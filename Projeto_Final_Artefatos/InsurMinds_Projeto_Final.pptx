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30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9184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Aptos"/>
              </a:defRPr>
            </a:pPr>
            <a:r>
              <a:t>INSURMINDS · PROJETO FINAL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7899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Aptos"/>
              </a:defRPr>
            </a:pPr>
            <a:r>
              <a:t>Apólices complexas. Comparações explicáveis.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89888"/>
            <a:ext cx="1005840" cy="54864"/>
          </a:xfrm>
          <a:prstGeom prst="rect">
            <a:avLst/>
          </a:prstGeom>
          <a:solidFill>
            <a:srgbClr val="F26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01400" y="320040"/>
            <a:ext cx="365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74519"/>
            <a:ext cx="667512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900" b="1">
                <a:solidFill>
                  <a:srgbClr val="FFFFFF"/>
                </a:solidFill>
                <a:latin typeface="Aptos"/>
              </a:defRPr>
            </a:pPr>
            <a:r>
              <a:t>Plataforma inteligente para análise e comparação de seguros D&amp;O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154680"/>
            <a:ext cx="694944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0">
                <a:solidFill>
                  <a:srgbClr val="18A6A6"/>
                </a:solidFill>
                <a:latin typeface="Aptos"/>
              </a:defRPr>
            </a:pPr>
            <a:r>
              <a:t>Extração estruturada · Evidência por página · Comparação assistida por IA</a:t>
            </a:r>
          </a:p>
        </p:txBody>
      </p:sp>
      <p:sp>
        <p:nvSpPr>
          <p:cNvPr id="8" name="Hexagon 7"/>
          <p:cNvSpPr/>
          <p:nvPr/>
        </p:nvSpPr>
        <p:spPr>
          <a:xfrm>
            <a:off x="8686800" y="1965960"/>
            <a:ext cx="2148840" cy="2331720"/>
          </a:xfrm>
          <a:prstGeom prst="hexagon">
            <a:avLst/>
          </a:prstGeom>
          <a:solidFill>
            <a:srgbClr val="18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79408" y="2578608"/>
            <a:ext cx="15544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3000" b="1">
                <a:solidFill>
                  <a:srgbClr val="FFFFFF"/>
                </a:solidFill>
                <a:latin typeface="Aptos"/>
              </a:defRPr>
            </a:pPr>
            <a:r>
              <a:t>D&amp;O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17220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Aptos"/>
              </a:defRPr>
            </a:pPr>
            <a:r>
              <a:t>EQUIPE: PREENCHER NOMES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9184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8A6A6"/>
                </a:solidFill>
                <a:latin typeface="Aptos"/>
              </a:defRPr>
            </a:pPr>
            <a:r>
              <a:t>PROBLEMA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7899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700" b="1">
                <a:solidFill>
                  <a:srgbClr val="12304A"/>
                </a:solidFill>
                <a:latin typeface="Aptos"/>
              </a:defRPr>
            </a:pPr>
            <a:r>
              <a:t>Comparar apólices ainda é um trabalho manual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89888"/>
            <a:ext cx="1005840" cy="54864"/>
          </a:xfrm>
          <a:prstGeom prst="rect">
            <a:avLst/>
          </a:prstGeom>
          <a:solidFill>
            <a:srgbClr val="F26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01400" y="320040"/>
            <a:ext cx="365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2616B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3520440" cy="3200400"/>
          </a:xfrm>
          <a:prstGeom prst="roundRect">
            <a:avLst/>
          </a:prstGeom>
          <a:solidFill>
            <a:srgbClr val="F3F6F8"/>
          </a:solidFill>
          <a:ln>
            <a:solidFill>
              <a:srgbClr val="DC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73152" cy="3200400"/>
          </a:xfrm>
          <a:prstGeom prst="rect">
            <a:avLst/>
          </a:prstGeom>
          <a:solidFill>
            <a:srgbClr val="F26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93392"/>
            <a:ext cx="320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F26B5B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1993392"/>
            <a:ext cx="271576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12304A"/>
                </a:solidFill>
                <a:latin typeface="Aptos"/>
              </a:defRPr>
            </a:pPr>
            <a:r>
              <a:t>Documentos extensos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487168"/>
            <a:ext cx="3044952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52616B"/>
                </a:solidFill>
                <a:latin typeface="Aptos"/>
              </a:defRPr>
            </a:pPr>
            <a:r>
              <a:t>Cláusulas, limites e exclusões aparecem em páginas diferentes e com terminologia pouco padronizada.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828800"/>
            <a:ext cx="3520440" cy="3200400"/>
          </a:xfrm>
          <a:prstGeom prst="roundRect">
            <a:avLst/>
          </a:prstGeom>
          <a:solidFill>
            <a:srgbClr val="F3F6F8"/>
          </a:solidFill>
          <a:ln>
            <a:solidFill>
              <a:srgbClr val="DC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828800"/>
            <a:ext cx="73152" cy="3200400"/>
          </a:xfrm>
          <a:prstGeom prst="rect">
            <a:avLst/>
          </a:prstGeom>
          <a:solidFill>
            <a:srgbClr val="F26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993392"/>
            <a:ext cx="320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F26B5B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65192" y="1993392"/>
            <a:ext cx="271576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12304A"/>
                </a:solidFill>
                <a:latin typeface="Aptos"/>
              </a:defRPr>
            </a:pPr>
            <a:r>
              <a:t>Risco de omissão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9432" y="2487168"/>
            <a:ext cx="3044952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52616B"/>
                </a:solidFill>
                <a:latin typeface="Aptos"/>
              </a:defRPr>
            </a:pPr>
            <a:r>
              <a:t>Uma diferença relevante pode ficar escondida em condições particulares, exclusões ou endossos.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1828800"/>
            <a:ext cx="3520440" cy="3200400"/>
          </a:xfrm>
          <a:prstGeom prst="roundRect">
            <a:avLst/>
          </a:prstGeom>
          <a:solidFill>
            <a:srgbClr val="F3F6F8"/>
          </a:solidFill>
          <a:ln>
            <a:solidFill>
              <a:srgbClr val="DC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828800"/>
            <a:ext cx="73152" cy="3200400"/>
          </a:xfrm>
          <a:prstGeom prst="rect">
            <a:avLst/>
          </a:prstGeom>
          <a:solidFill>
            <a:srgbClr val="F26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75320" y="1993392"/>
            <a:ext cx="320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F26B5B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2" y="1993392"/>
            <a:ext cx="271576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12304A"/>
                </a:solidFill>
                <a:latin typeface="Aptos"/>
              </a:defRPr>
            </a:pPr>
            <a:r>
              <a:t>Resultado difícil de auditar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2752" y="2487168"/>
            <a:ext cx="3044952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52616B"/>
                </a:solidFill>
                <a:latin typeface="Aptos"/>
              </a:defRPr>
            </a:pPr>
            <a:r>
              <a:t>Um resumo sem página e trecho não permite que o especialista confira rapidamente a conclusão.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532120"/>
            <a:ext cx="9784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00" b="1">
                <a:solidFill>
                  <a:srgbClr val="12304A"/>
                </a:solidFill>
                <a:latin typeface="Aptos"/>
              </a:defRPr>
            </a:pPr>
            <a:r>
              <a:t>O objetivo não é retirar o especialista — é reduzir leitura repetitiva e aumentar rastreabilidade.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9184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8A6A6"/>
                </a:solidFill>
                <a:latin typeface="Aptos"/>
              </a:defRPr>
            </a:pPr>
            <a:r>
              <a:t>PROPOSTA DE VALOR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7899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700" b="1">
                <a:solidFill>
                  <a:srgbClr val="12304A"/>
                </a:solidFill>
                <a:latin typeface="Aptos"/>
              </a:defRPr>
            </a:pPr>
            <a:r>
              <a:t>Da leitura dispersa à comparação verificável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89888"/>
            <a:ext cx="1005840" cy="54864"/>
          </a:xfrm>
          <a:prstGeom prst="rect">
            <a:avLst/>
          </a:prstGeom>
          <a:solidFill>
            <a:srgbClr val="F26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01400" y="320040"/>
            <a:ext cx="365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2616B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6" name="Oval 5"/>
          <p:cNvSpPr/>
          <p:nvPr/>
        </p:nvSpPr>
        <p:spPr>
          <a:xfrm>
            <a:off x="1097280" y="1828800"/>
            <a:ext cx="640080" cy="640080"/>
          </a:xfrm>
          <a:prstGeom prst="ellipse">
            <a:avLst/>
          </a:prstGeom>
          <a:solidFill>
            <a:srgbClr val="18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874519"/>
            <a:ext cx="6400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697480"/>
            <a:ext cx="1645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1">
                <a:solidFill>
                  <a:srgbClr val="12304A"/>
                </a:solidFill>
                <a:latin typeface="Aptos"/>
              </a:defRPr>
            </a:pPr>
            <a:r>
              <a:t>Enviar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127248"/>
            <a:ext cx="16459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50" b="0">
                <a:solidFill>
                  <a:srgbClr val="52616B"/>
                </a:solidFill>
                <a:latin typeface="Aptos"/>
              </a:defRPr>
            </a:pPr>
            <a:r>
              <a:t>PDF ou imagem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01368" y="2130552"/>
            <a:ext cx="758952" cy="36576"/>
          </a:xfrm>
          <a:prstGeom prst="rect">
            <a:avLst/>
          </a:prstGeom>
          <a:solidFill>
            <a:srgbClr val="DCE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999232" y="1828800"/>
            <a:ext cx="640080" cy="640080"/>
          </a:xfrm>
          <a:prstGeom prst="ellipse">
            <a:avLst/>
          </a:prstGeom>
          <a:solidFill>
            <a:srgbClr val="18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99232" y="1874519"/>
            <a:ext cx="6400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96312" y="2697480"/>
            <a:ext cx="1645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1">
                <a:solidFill>
                  <a:srgbClr val="12304A"/>
                </a:solidFill>
                <a:latin typeface="Aptos"/>
              </a:defRPr>
            </a:pPr>
            <a:r>
              <a:t>Extrair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96312" y="3127248"/>
            <a:ext cx="16459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50" b="0">
                <a:solidFill>
                  <a:srgbClr val="52616B"/>
                </a:solidFill>
                <a:latin typeface="Aptos"/>
              </a:defRPr>
            </a:pPr>
            <a:r>
              <a:t>texto + OCR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03320" y="2130552"/>
            <a:ext cx="758952" cy="36576"/>
          </a:xfrm>
          <a:prstGeom prst="rect">
            <a:avLst/>
          </a:prstGeom>
          <a:solidFill>
            <a:srgbClr val="DCE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901184" y="1828800"/>
            <a:ext cx="640080" cy="640080"/>
          </a:xfrm>
          <a:prstGeom prst="ellipse">
            <a:avLst/>
          </a:prstGeom>
          <a:solidFill>
            <a:srgbClr val="18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184" y="1874519"/>
            <a:ext cx="6400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98264" y="2697480"/>
            <a:ext cx="1645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1">
                <a:solidFill>
                  <a:srgbClr val="12304A"/>
                </a:solidFill>
                <a:latin typeface="Aptos"/>
              </a:defRPr>
            </a:pPr>
            <a:r>
              <a:t>Estruturar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98264" y="3127248"/>
            <a:ext cx="16459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50" b="0">
                <a:solidFill>
                  <a:srgbClr val="52616B"/>
                </a:solidFill>
                <a:latin typeface="Aptos"/>
              </a:defRPr>
            </a:pPr>
            <a:r>
              <a:t>26 critérios D&amp;O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05272" y="2130552"/>
            <a:ext cx="758952" cy="36576"/>
          </a:xfrm>
          <a:prstGeom prst="rect">
            <a:avLst/>
          </a:prstGeom>
          <a:solidFill>
            <a:srgbClr val="DCE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803136" y="1828800"/>
            <a:ext cx="640080" cy="640080"/>
          </a:xfrm>
          <a:prstGeom prst="ellipse">
            <a:avLst/>
          </a:prstGeom>
          <a:solidFill>
            <a:srgbClr val="18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03136" y="1874519"/>
            <a:ext cx="6400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0216" y="2697480"/>
            <a:ext cx="1645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1">
                <a:solidFill>
                  <a:srgbClr val="12304A"/>
                </a:solidFill>
                <a:latin typeface="Aptos"/>
              </a:defRPr>
            </a:pPr>
            <a:r>
              <a:t>Validar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0216" y="3127248"/>
            <a:ext cx="16459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50" b="0">
                <a:solidFill>
                  <a:srgbClr val="52616B"/>
                </a:solidFill>
                <a:latin typeface="Aptos"/>
              </a:defRPr>
            </a:pPr>
            <a:r>
              <a:t>página + trecho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07224" y="2130552"/>
            <a:ext cx="758952" cy="36576"/>
          </a:xfrm>
          <a:prstGeom prst="rect">
            <a:avLst/>
          </a:prstGeom>
          <a:solidFill>
            <a:srgbClr val="DCE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705088" y="1828800"/>
            <a:ext cx="640080" cy="640080"/>
          </a:xfrm>
          <a:prstGeom prst="ellipse">
            <a:avLst/>
          </a:prstGeom>
          <a:solidFill>
            <a:srgbClr val="18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05088" y="1874519"/>
            <a:ext cx="6400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02168" y="2697480"/>
            <a:ext cx="1645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1">
                <a:solidFill>
                  <a:srgbClr val="12304A"/>
                </a:solidFill>
                <a:latin typeface="Aptos"/>
              </a:defRPr>
            </a:pPr>
            <a:r>
              <a:t>Comparar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02168" y="3127248"/>
            <a:ext cx="16459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50" b="0">
                <a:solidFill>
                  <a:srgbClr val="52616B"/>
                </a:solidFill>
                <a:latin typeface="Aptos"/>
              </a:defRPr>
            </a:pPr>
            <a:r>
              <a:t>matriz e atenção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409176" y="2130552"/>
            <a:ext cx="758952" cy="36576"/>
          </a:xfrm>
          <a:prstGeom prst="rect">
            <a:avLst/>
          </a:prstGeom>
          <a:solidFill>
            <a:srgbClr val="DCE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607040" y="1828800"/>
            <a:ext cx="640080" cy="640080"/>
          </a:xfrm>
          <a:prstGeom prst="ellipse">
            <a:avLst/>
          </a:prstGeom>
          <a:solidFill>
            <a:srgbClr val="18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607040" y="1874519"/>
            <a:ext cx="6400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04120" y="2697480"/>
            <a:ext cx="1645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1">
                <a:solidFill>
                  <a:srgbClr val="12304A"/>
                </a:solidFill>
                <a:latin typeface="Aptos"/>
              </a:defRPr>
            </a:pPr>
            <a:r>
              <a:t>Consultar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04120" y="3127248"/>
            <a:ext cx="16459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50" b="0">
                <a:solidFill>
                  <a:srgbClr val="52616B"/>
                </a:solidFill>
                <a:latin typeface="Aptos"/>
              </a:defRPr>
            </a:pPr>
            <a:r>
              <a:t>copiloto fundamentado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5074920"/>
            <a:ext cx="9601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100" b="1">
                <a:solidFill>
                  <a:srgbClr val="F26B5B"/>
                </a:solidFill>
                <a:latin typeface="Aptos"/>
              </a:defRPr>
            </a:pPr>
            <a:r>
              <a:t>Diferencial: um dado sem evidência verificável não entra na base.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9184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8A6A6"/>
                </a:solidFill>
                <a:latin typeface="Aptos"/>
              </a:defRPr>
            </a:pPr>
            <a:r>
              <a:t>ARQUITETURA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7899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700" b="1">
                <a:solidFill>
                  <a:srgbClr val="12304A"/>
                </a:solidFill>
                <a:latin typeface="Aptos"/>
              </a:defRPr>
            </a:pPr>
            <a:r>
              <a:t>Arquitetura híbrida: IA onde agrega valor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89888"/>
            <a:ext cx="1005840" cy="54864"/>
          </a:xfrm>
          <a:prstGeom prst="rect">
            <a:avLst/>
          </a:prstGeom>
          <a:solidFill>
            <a:srgbClr val="F26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01400" y="320040"/>
            <a:ext cx="365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2616B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965960"/>
            <a:ext cx="1508760" cy="1371600"/>
          </a:xfrm>
          <a:prstGeom prst="roundRect">
            <a:avLst/>
          </a:prstGeom>
          <a:solidFill>
            <a:srgbClr val="F3F6F8"/>
          </a:solidFill>
          <a:ln>
            <a:solidFill>
              <a:srgbClr val="DC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249424"/>
            <a:ext cx="1325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12304A"/>
                </a:solidFill>
                <a:latin typeface="Aptos"/>
              </a:defRPr>
            </a:pPr>
            <a:r>
              <a:t>Documento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651760"/>
            <a:ext cx="1325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0">
                <a:solidFill>
                  <a:srgbClr val="52616B"/>
                </a:solidFill>
                <a:latin typeface="Aptos"/>
              </a:defRPr>
            </a:pPr>
            <a:r>
              <a:t>PDF / imagem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2395728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600" b="1">
                <a:solidFill>
                  <a:srgbClr val="18A6A6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23160" y="1965960"/>
            <a:ext cx="1508760" cy="1371600"/>
          </a:xfrm>
          <a:prstGeom prst="roundRect">
            <a:avLst/>
          </a:prstGeom>
          <a:solidFill>
            <a:srgbClr val="F3F6F8"/>
          </a:solidFill>
          <a:ln>
            <a:solidFill>
              <a:srgbClr val="DC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14600" y="2249424"/>
            <a:ext cx="1325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12304A"/>
                </a:solidFill>
                <a:latin typeface="Aptos"/>
              </a:defRPr>
            </a:pPr>
            <a:r>
              <a:t>Leitura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4600" y="2651760"/>
            <a:ext cx="1325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0">
                <a:solidFill>
                  <a:srgbClr val="52616B"/>
                </a:solidFill>
                <a:latin typeface="Aptos"/>
              </a:defRPr>
            </a:pPr>
            <a:r>
              <a:t>PyMuPDF + OCR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2395728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600" b="1">
                <a:solidFill>
                  <a:srgbClr val="18A6A6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51960" y="1965960"/>
            <a:ext cx="1508760" cy="1371600"/>
          </a:xfrm>
          <a:prstGeom prst="roundRect">
            <a:avLst/>
          </a:prstGeom>
          <a:solidFill>
            <a:srgbClr val="12304A"/>
          </a:solidFill>
          <a:ln>
            <a:solidFill>
              <a:srgbClr val="18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43400" y="2249424"/>
            <a:ext cx="1325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Extração 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43400" y="2651760"/>
            <a:ext cx="1325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Aptos"/>
              </a:defRPr>
            </a:pPr>
            <a:r>
              <a:t>API conversacional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0720" y="2395728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600" b="1">
                <a:solidFill>
                  <a:srgbClr val="18A6A6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80760" y="1965960"/>
            <a:ext cx="1508760" cy="1371600"/>
          </a:xfrm>
          <a:prstGeom prst="roundRect">
            <a:avLst/>
          </a:prstGeom>
          <a:solidFill>
            <a:srgbClr val="F3F6F8"/>
          </a:solidFill>
          <a:ln>
            <a:solidFill>
              <a:srgbClr val="DC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72200" y="2249424"/>
            <a:ext cx="1325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12304A"/>
                </a:solidFill>
                <a:latin typeface="Aptos"/>
              </a:defRPr>
            </a:pPr>
            <a:r>
              <a:t>Validação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2200" y="2651760"/>
            <a:ext cx="1325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0">
                <a:solidFill>
                  <a:srgbClr val="52616B"/>
                </a:solidFill>
                <a:latin typeface="Aptos"/>
              </a:defRPr>
            </a:pPr>
            <a:r>
              <a:t>Pydantic + evidência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20" y="2395728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600" b="1">
                <a:solidFill>
                  <a:srgbClr val="18A6A6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09560" y="1965960"/>
            <a:ext cx="1508760" cy="1371600"/>
          </a:xfrm>
          <a:prstGeom prst="roundRect">
            <a:avLst/>
          </a:prstGeom>
          <a:solidFill>
            <a:srgbClr val="F3F6F8"/>
          </a:solidFill>
          <a:ln>
            <a:solidFill>
              <a:srgbClr val="DC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01000" y="2249424"/>
            <a:ext cx="1325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12304A"/>
                </a:solidFill>
                <a:latin typeface="Aptos"/>
              </a:defRPr>
            </a:pPr>
            <a:r>
              <a:t>Dados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01000" y="2651760"/>
            <a:ext cx="1325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0">
                <a:solidFill>
                  <a:srgbClr val="52616B"/>
                </a:solidFill>
                <a:latin typeface="Aptos"/>
              </a:defRPr>
            </a:pPr>
            <a:r>
              <a:t>SQLite local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18320" y="2395728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600" b="1">
                <a:solidFill>
                  <a:srgbClr val="18A6A6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738360" y="1965960"/>
            <a:ext cx="1508760" cy="1371600"/>
          </a:xfrm>
          <a:prstGeom prst="roundRect">
            <a:avLst/>
          </a:prstGeom>
          <a:solidFill>
            <a:srgbClr val="12304A"/>
          </a:solidFill>
          <a:ln>
            <a:solidFill>
              <a:srgbClr val="18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29800" y="2249424"/>
            <a:ext cx="1325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Experiência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29800" y="2651760"/>
            <a:ext cx="1325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Aptos"/>
              </a:defRPr>
            </a:pPr>
            <a:r>
              <a:t>Streamlit + relatório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14400" y="4069080"/>
            <a:ext cx="3154680" cy="1234440"/>
          </a:xfrm>
          <a:prstGeom prst="roundRect">
            <a:avLst/>
          </a:prstGeom>
          <a:solidFill>
            <a:srgbClr val="F3F6F8"/>
          </a:solidFill>
          <a:ln>
            <a:solidFill>
              <a:srgbClr val="DC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14400" y="4069080"/>
            <a:ext cx="73152" cy="1234440"/>
          </a:xfrm>
          <a:prstGeom prst="rect">
            <a:avLst/>
          </a:prstGeom>
          <a:solidFill>
            <a:srgbClr val="18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70432" y="4233672"/>
            <a:ext cx="271576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12304A"/>
                </a:solidFill>
                <a:latin typeface="Aptos"/>
              </a:defRPr>
            </a:pPr>
            <a:r>
              <a:t>Código determinístico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70432" y="4727448"/>
            <a:ext cx="267919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52616B"/>
                </a:solidFill>
                <a:latin typeface="Aptos"/>
              </a:defRPr>
            </a:pPr>
            <a:r>
              <a:t>Datas, valores, estados, cache e diferenças reproduzíveis.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26280" y="4069080"/>
            <a:ext cx="3154680" cy="1234440"/>
          </a:xfrm>
          <a:prstGeom prst="roundRect">
            <a:avLst/>
          </a:prstGeom>
          <a:solidFill>
            <a:srgbClr val="F3F6F8"/>
          </a:solidFill>
          <a:ln>
            <a:solidFill>
              <a:srgbClr val="DC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26280" y="4069080"/>
            <a:ext cx="73152" cy="1234440"/>
          </a:xfrm>
          <a:prstGeom prst="rect">
            <a:avLst/>
          </a:prstGeom>
          <a:solidFill>
            <a:srgbClr val="F26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82312" y="4233672"/>
            <a:ext cx="271576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12304A"/>
                </a:solidFill>
                <a:latin typeface="Aptos"/>
              </a:defRPr>
            </a:pPr>
            <a:r>
              <a:t>IA generativa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82312" y="4727448"/>
            <a:ext cx="267919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52616B"/>
                </a:solidFill>
                <a:latin typeface="Aptos"/>
              </a:defRPr>
            </a:pPr>
            <a:r>
              <a:t>Interpretação de cláusulas, síntese e perguntas em linguagem natural.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138160" y="4069080"/>
            <a:ext cx="3154680" cy="1234440"/>
          </a:xfrm>
          <a:prstGeom prst="roundRect">
            <a:avLst/>
          </a:prstGeom>
          <a:solidFill>
            <a:srgbClr val="F3F6F8"/>
          </a:solidFill>
          <a:ln>
            <a:solidFill>
              <a:srgbClr val="DC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138160" y="4069080"/>
            <a:ext cx="73152" cy="1234440"/>
          </a:xfrm>
          <a:prstGeom prst="rect">
            <a:avLst/>
          </a:prstGeom>
          <a:solidFill>
            <a:srgbClr val="18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94192" y="4233672"/>
            <a:ext cx="271576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12304A"/>
                </a:solidFill>
                <a:latin typeface="Aptos"/>
              </a:defRPr>
            </a:pPr>
            <a:r>
              <a:t>Humano no controle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94192" y="4727448"/>
            <a:ext cx="267919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52616B"/>
                </a:solidFill>
                <a:latin typeface="Aptos"/>
              </a:defRPr>
            </a:pPr>
            <a:r>
              <a:t>Evidências, ambiguidades e ressalvas ficam visíveis para conferência.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9184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8A6A6"/>
                </a:solidFill>
                <a:latin typeface="Aptos"/>
              </a:defRPr>
            </a:pPr>
            <a:r>
              <a:t>ORQUESTRAÇÃO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7899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700" b="1">
                <a:solidFill>
                  <a:srgbClr val="12304A"/>
                </a:solidFill>
                <a:latin typeface="Aptos"/>
              </a:defRPr>
            </a:pPr>
            <a:r>
              <a:t>Agentes pequenos, especializados e testáveis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89888"/>
            <a:ext cx="1005840" cy="54864"/>
          </a:xfrm>
          <a:prstGeom prst="rect">
            <a:avLst/>
          </a:prstGeom>
          <a:solidFill>
            <a:srgbClr val="F26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01400" y="320040"/>
            <a:ext cx="365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2616B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783080"/>
            <a:ext cx="3493008" cy="1600200"/>
          </a:xfrm>
          <a:prstGeom prst="roundRect">
            <a:avLst/>
          </a:prstGeom>
          <a:solidFill>
            <a:srgbClr val="F3F6F8"/>
          </a:solidFill>
          <a:ln>
            <a:solidFill>
              <a:srgbClr val="DC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783080"/>
            <a:ext cx="73152" cy="1600200"/>
          </a:xfrm>
          <a:prstGeom prst="rect">
            <a:avLst/>
          </a:prstGeom>
          <a:solidFill>
            <a:srgbClr val="18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47672"/>
            <a:ext cx="320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18A6A6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07592" y="1947672"/>
            <a:ext cx="2688335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12304A"/>
                </a:solidFill>
                <a:latin typeface="Aptos"/>
              </a:defRPr>
            </a:pPr>
            <a:r>
              <a:t>Leitor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441448"/>
            <a:ext cx="30175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52616B"/>
                </a:solidFill>
                <a:latin typeface="Aptos"/>
              </a:defRPr>
            </a:pPr>
            <a:r>
              <a:t>Valida arquivo e preserva texto por página.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07992" y="1783080"/>
            <a:ext cx="3493008" cy="1600200"/>
          </a:xfrm>
          <a:prstGeom prst="roundRect">
            <a:avLst/>
          </a:prstGeom>
          <a:solidFill>
            <a:srgbClr val="F3F6F8"/>
          </a:solidFill>
          <a:ln>
            <a:solidFill>
              <a:srgbClr val="DC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07992" y="1783080"/>
            <a:ext cx="73152" cy="1600200"/>
          </a:xfrm>
          <a:prstGeom prst="rect">
            <a:avLst/>
          </a:prstGeom>
          <a:solidFill>
            <a:srgbClr val="F26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36592" y="1947672"/>
            <a:ext cx="320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F26B5B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9783" y="1947672"/>
            <a:ext cx="26883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12304A"/>
                </a:solidFill>
                <a:latin typeface="Aptos"/>
              </a:defRPr>
            </a:pPr>
            <a:r>
              <a:t>Extrator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64024" y="2441448"/>
            <a:ext cx="30175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52616B"/>
                </a:solidFill>
                <a:latin typeface="Aptos"/>
              </a:defRPr>
            </a:pPr>
            <a:r>
              <a:t>Mapeia cláusulas à taxonomia fechada.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30183" y="1783080"/>
            <a:ext cx="3493008" cy="1600200"/>
          </a:xfrm>
          <a:prstGeom prst="roundRect">
            <a:avLst/>
          </a:prstGeom>
          <a:solidFill>
            <a:srgbClr val="F3F6F8"/>
          </a:solidFill>
          <a:ln>
            <a:solidFill>
              <a:srgbClr val="DC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330183" y="1783080"/>
            <a:ext cx="73152" cy="1600200"/>
          </a:xfrm>
          <a:prstGeom prst="rect">
            <a:avLst/>
          </a:prstGeom>
          <a:solidFill>
            <a:srgbClr val="18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58784" y="1947672"/>
            <a:ext cx="320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18A6A6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51976" y="1947672"/>
            <a:ext cx="26883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12304A"/>
                </a:solidFill>
                <a:latin typeface="Aptos"/>
              </a:defRPr>
            </a:pPr>
            <a:r>
              <a:t>Auditor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86215" y="2441448"/>
            <a:ext cx="30175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52616B"/>
                </a:solidFill>
                <a:latin typeface="Aptos"/>
              </a:defRPr>
            </a:pPr>
            <a:r>
              <a:t>Rejeita página ou trecho não confirmável.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3749039"/>
            <a:ext cx="3493008" cy="1600200"/>
          </a:xfrm>
          <a:prstGeom prst="roundRect">
            <a:avLst/>
          </a:prstGeom>
          <a:solidFill>
            <a:srgbClr val="F3F6F8"/>
          </a:solidFill>
          <a:ln>
            <a:solidFill>
              <a:srgbClr val="DC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5800" y="3749039"/>
            <a:ext cx="73152" cy="1600200"/>
          </a:xfrm>
          <a:prstGeom prst="rect">
            <a:avLst/>
          </a:prstGeom>
          <a:solidFill>
            <a:srgbClr val="F26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3913631"/>
            <a:ext cx="320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F26B5B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07592" y="3913631"/>
            <a:ext cx="2688335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12304A"/>
                </a:solidFill>
                <a:latin typeface="Aptos"/>
              </a:defRPr>
            </a:pPr>
            <a:r>
              <a:t>Comparador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1832" y="4407407"/>
            <a:ext cx="30175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52616B"/>
                </a:solidFill>
                <a:latin typeface="Aptos"/>
              </a:defRPr>
            </a:pPr>
            <a:r>
              <a:t>Confronta valores e interpreta diferenças.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07992" y="3749039"/>
            <a:ext cx="3493008" cy="1600200"/>
          </a:xfrm>
          <a:prstGeom prst="roundRect">
            <a:avLst/>
          </a:prstGeom>
          <a:solidFill>
            <a:srgbClr val="F3F6F8"/>
          </a:solidFill>
          <a:ln>
            <a:solidFill>
              <a:srgbClr val="DC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07992" y="3749039"/>
            <a:ext cx="73152" cy="1600200"/>
          </a:xfrm>
          <a:prstGeom prst="rect">
            <a:avLst/>
          </a:prstGeom>
          <a:solidFill>
            <a:srgbClr val="18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36592" y="3913631"/>
            <a:ext cx="320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18A6A6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29783" y="3913631"/>
            <a:ext cx="26883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12304A"/>
                </a:solidFill>
                <a:latin typeface="Aptos"/>
              </a:defRPr>
            </a:pPr>
            <a:r>
              <a:t>Relator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64024" y="4407407"/>
            <a:ext cx="30175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52616B"/>
                </a:solidFill>
                <a:latin typeface="Aptos"/>
              </a:defRPr>
            </a:pPr>
            <a:r>
              <a:t>Gera PDF, CSV e JSON auditáveis.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330183" y="3749039"/>
            <a:ext cx="3493008" cy="1600200"/>
          </a:xfrm>
          <a:prstGeom prst="roundRect">
            <a:avLst/>
          </a:prstGeom>
          <a:solidFill>
            <a:srgbClr val="F3F6F8"/>
          </a:solidFill>
          <a:ln>
            <a:solidFill>
              <a:srgbClr val="DC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330183" y="3749039"/>
            <a:ext cx="73152" cy="1600200"/>
          </a:xfrm>
          <a:prstGeom prst="rect">
            <a:avLst/>
          </a:prstGeom>
          <a:solidFill>
            <a:srgbClr val="F26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58784" y="3913631"/>
            <a:ext cx="320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F26B5B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51976" y="3913631"/>
            <a:ext cx="26883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12304A"/>
                </a:solidFill>
                <a:latin typeface="Aptos"/>
              </a:defRPr>
            </a:pPr>
            <a:r>
              <a:t>Copiloto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86215" y="4407407"/>
            <a:ext cx="30175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52616B"/>
                </a:solidFill>
                <a:latin typeface="Aptos"/>
              </a:defRPr>
            </a:pPr>
            <a:r>
              <a:t>Responde somente com contexto recuperado.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9184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8A6A6"/>
                </a:solidFill>
                <a:latin typeface="Aptos"/>
              </a:defRPr>
            </a:pPr>
            <a:r>
              <a:t>CONTROLES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7899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700" b="1">
                <a:solidFill>
                  <a:srgbClr val="12304A"/>
                </a:solidFill>
                <a:latin typeface="Aptos"/>
              </a:defRPr>
            </a:pPr>
            <a:r>
              <a:t>Confiabilidade construída fora do prompt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89888"/>
            <a:ext cx="1005840" cy="54864"/>
          </a:xfrm>
          <a:prstGeom prst="rect">
            <a:avLst/>
          </a:prstGeom>
          <a:solidFill>
            <a:srgbClr val="F26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01400" y="320040"/>
            <a:ext cx="365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2616B"/>
                </a:solidFill>
                <a:latin typeface="Aptos"/>
              </a:defRPr>
            </a:pPr>
            <a:r>
              <a:t>06</a:t>
            </a:r>
          </a:p>
        </p:txBody>
      </p:sp>
      <p:sp>
        <p:nvSpPr>
          <p:cNvPr id="6" name="Oval 5"/>
          <p:cNvSpPr/>
          <p:nvPr/>
        </p:nvSpPr>
        <p:spPr>
          <a:xfrm>
            <a:off x="822960" y="1728216"/>
            <a:ext cx="320040" cy="320040"/>
          </a:xfrm>
          <a:prstGeom prst="ellipse">
            <a:avLst/>
          </a:prstGeom>
          <a:solidFill>
            <a:srgbClr val="18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169164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12304A"/>
                </a:solidFill>
                <a:latin typeface="Aptos"/>
              </a:defRPr>
            </a:pPr>
            <a:r>
              <a:t>Taxonomia fechada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69080" y="1691640"/>
            <a:ext cx="7040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52616B"/>
                </a:solidFill>
                <a:latin typeface="Aptos"/>
              </a:defRPr>
            </a:pPr>
            <a:r>
              <a:t>Chaves desconhecidas são descartadas.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2441448"/>
            <a:ext cx="320040" cy="320040"/>
          </a:xfrm>
          <a:prstGeom prst="ellipse">
            <a:avLst/>
          </a:prstGeom>
          <a:solidFill>
            <a:srgbClr val="F26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2404872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12304A"/>
                </a:solidFill>
                <a:latin typeface="Aptos"/>
              </a:defRPr>
            </a:pPr>
            <a:r>
              <a:t>Evidência obrigatória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69080" y="2404872"/>
            <a:ext cx="7040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52616B"/>
                </a:solidFill>
                <a:latin typeface="Aptos"/>
              </a:defRPr>
            </a:pPr>
            <a:r>
              <a:t>Página e trecho são verificados no texto original.</a:t>
            </a:r>
          </a:p>
        </p:txBody>
      </p:sp>
      <p:sp>
        <p:nvSpPr>
          <p:cNvPr id="12" name="Oval 11"/>
          <p:cNvSpPr/>
          <p:nvPr/>
        </p:nvSpPr>
        <p:spPr>
          <a:xfrm>
            <a:off x="822960" y="3154680"/>
            <a:ext cx="320040" cy="320040"/>
          </a:xfrm>
          <a:prstGeom prst="ellipse">
            <a:avLst/>
          </a:prstGeom>
          <a:solidFill>
            <a:srgbClr val="18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71600" y="3118104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12304A"/>
                </a:solidFill>
                <a:latin typeface="Aptos"/>
              </a:defRPr>
            </a:pPr>
            <a:r>
              <a:t>Estados distintos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69080" y="3118104"/>
            <a:ext cx="7040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52616B"/>
                </a:solidFill>
                <a:latin typeface="Aptos"/>
              </a:defRPr>
            </a:pPr>
            <a:r>
              <a:t>Não localizado ≠ não coberto; ambiguidade fica explícita.</a:t>
            </a:r>
          </a:p>
        </p:txBody>
      </p:sp>
      <p:sp>
        <p:nvSpPr>
          <p:cNvPr id="15" name="Oval 14"/>
          <p:cNvSpPr/>
          <p:nvPr/>
        </p:nvSpPr>
        <p:spPr>
          <a:xfrm>
            <a:off x="822960" y="3867911"/>
            <a:ext cx="320040" cy="320040"/>
          </a:xfrm>
          <a:prstGeom prst="ellipse">
            <a:avLst/>
          </a:prstGeom>
          <a:solidFill>
            <a:srgbClr val="F26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71600" y="3831335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12304A"/>
                </a:solidFill>
                <a:latin typeface="Aptos"/>
              </a:defRPr>
            </a:pPr>
            <a:r>
              <a:t>Proteção de credenciais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69080" y="3831335"/>
            <a:ext cx="7040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52616B"/>
                </a:solidFill>
                <a:latin typeface="Aptos"/>
              </a:defRPr>
            </a:pPr>
            <a:r>
              <a:t>Chaves em .env, nunca no banco ou Git.</a:t>
            </a:r>
          </a:p>
        </p:txBody>
      </p:sp>
      <p:sp>
        <p:nvSpPr>
          <p:cNvPr id="18" name="Oval 17"/>
          <p:cNvSpPr/>
          <p:nvPr/>
        </p:nvSpPr>
        <p:spPr>
          <a:xfrm>
            <a:off x="822960" y="4581144"/>
            <a:ext cx="320040" cy="320040"/>
          </a:xfrm>
          <a:prstGeom prst="ellipse">
            <a:avLst/>
          </a:prstGeom>
          <a:solidFill>
            <a:srgbClr val="18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71600" y="4544568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12304A"/>
                </a:solidFill>
                <a:latin typeface="Aptos"/>
              </a:defRPr>
            </a:pPr>
            <a:r>
              <a:t>Cache por hash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69080" y="4544568"/>
            <a:ext cx="7040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52616B"/>
                </a:solidFill>
                <a:latin typeface="Aptos"/>
              </a:defRPr>
            </a:pPr>
            <a:r>
              <a:t>Evita custo e reprocessamento do mesmo documento.</a:t>
            </a:r>
          </a:p>
        </p:txBody>
      </p:sp>
      <p:sp>
        <p:nvSpPr>
          <p:cNvPr id="21" name="Oval 20"/>
          <p:cNvSpPr/>
          <p:nvPr/>
        </p:nvSpPr>
        <p:spPr>
          <a:xfrm>
            <a:off x="822960" y="5294376"/>
            <a:ext cx="320040" cy="320040"/>
          </a:xfrm>
          <a:prstGeom prst="ellipse">
            <a:avLst/>
          </a:prstGeom>
          <a:solidFill>
            <a:srgbClr val="F26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71600" y="525780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12304A"/>
                </a:solidFill>
                <a:latin typeface="Aptos"/>
              </a:defRPr>
            </a:pPr>
            <a:r>
              <a:t>Prompt injection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69080" y="5257800"/>
            <a:ext cx="7040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52616B"/>
                </a:solidFill>
                <a:latin typeface="Aptos"/>
              </a:defRPr>
            </a:pPr>
            <a:r>
              <a:t>Documento é tratado como dado não confiável.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9184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8A6A6"/>
                </a:solidFill>
                <a:latin typeface="Aptos"/>
              </a:defRPr>
            </a:pPr>
            <a:r>
              <a:t>RESULTADOS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7899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700" b="1">
                <a:solidFill>
                  <a:srgbClr val="12304A"/>
                </a:solidFill>
                <a:latin typeface="Aptos"/>
              </a:defRPr>
            </a:pPr>
            <a:r>
              <a:t>MVP funcional e demonstrável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89888"/>
            <a:ext cx="1005840" cy="54864"/>
          </a:xfrm>
          <a:prstGeom prst="rect">
            <a:avLst/>
          </a:prstGeom>
          <a:solidFill>
            <a:srgbClr val="F26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01400" y="320040"/>
            <a:ext cx="365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2616B"/>
                </a:solidFill>
                <a:latin typeface="Aptos"/>
              </a:defRPr>
            </a:pPr>
            <a: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24688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3400" b="1">
                <a:solidFill>
                  <a:srgbClr val="18A6A6"/>
                </a:solidFill>
                <a:latin typeface="Aptos"/>
              </a:defRPr>
            </a:pPr>
            <a:r>
              <a:t>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788920"/>
            <a:ext cx="24688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12304A"/>
                </a:solidFill>
                <a:latin typeface="Aptos"/>
              </a:defRPr>
            </a:pPr>
            <a:r>
              <a:t>critérios D&amp;O estruturados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20439" y="1828800"/>
            <a:ext cx="24688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3400" b="1">
                <a:solidFill>
                  <a:srgbClr val="F26B5B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20439" y="2788920"/>
            <a:ext cx="24688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12304A"/>
                </a:solidFill>
                <a:latin typeface="Aptos"/>
              </a:defRPr>
            </a:pPr>
            <a:r>
              <a:t>apólices por comparação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828800"/>
            <a:ext cx="24688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3400" b="1">
                <a:solidFill>
                  <a:srgbClr val="18A6A6"/>
                </a:solidFill>
                <a:latin typeface="Aptos"/>
              </a:defRPr>
            </a:pPr>
            <a:r>
              <a:t>9/9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788920"/>
            <a:ext cx="24688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12304A"/>
                </a:solidFill>
                <a:latin typeface="Aptos"/>
              </a:defRPr>
            </a:pPr>
            <a:r>
              <a:t>testes automatizados aprovados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81159" y="1828800"/>
            <a:ext cx="24688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3400" b="1">
                <a:solidFill>
                  <a:srgbClr val="F26B5B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81159" y="2788920"/>
            <a:ext cx="24688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12304A"/>
                </a:solidFill>
                <a:latin typeface="Aptos"/>
              </a:defRPr>
            </a:pPr>
            <a:r>
              <a:t>formatos de exportação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0120" y="4251960"/>
            <a:ext cx="3154680" cy="1051560"/>
          </a:xfrm>
          <a:prstGeom prst="roundRect">
            <a:avLst/>
          </a:prstGeom>
          <a:solidFill>
            <a:srgbClr val="F3F6F8"/>
          </a:solidFill>
          <a:ln>
            <a:solidFill>
              <a:srgbClr val="DC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60120" y="4251960"/>
            <a:ext cx="73152" cy="1051560"/>
          </a:xfrm>
          <a:prstGeom prst="rect">
            <a:avLst/>
          </a:prstGeom>
          <a:solidFill>
            <a:srgbClr val="18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16152" y="4416552"/>
            <a:ext cx="271576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12304A"/>
                </a:solidFill>
                <a:latin typeface="Aptos"/>
              </a:defRPr>
            </a:pPr>
            <a:r>
              <a:t>Entrada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16152" y="4910328"/>
            <a:ext cx="2679192" cy="2285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52616B"/>
                </a:solidFill>
                <a:latin typeface="Aptos"/>
              </a:defRPr>
            </a:pPr>
            <a:r>
              <a:t>PDF, PNG, JPEG, TIFF e WebP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26280" y="4251960"/>
            <a:ext cx="3154680" cy="1051560"/>
          </a:xfrm>
          <a:prstGeom prst="roundRect">
            <a:avLst/>
          </a:prstGeom>
          <a:solidFill>
            <a:srgbClr val="F3F6F8"/>
          </a:solidFill>
          <a:ln>
            <a:solidFill>
              <a:srgbClr val="DC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26280" y="4251960"/>
            <a:ext cx="73152" cy="1051560"/>
          </a:xfrm>
          <a:prstGeom prst="rect">
            <a:avLst/>
          </a:prstGeom>
          <a:solidFill>
            <a:srgbClr val="F26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82312" y="4416552"/>
            <a:ext cx="271576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12304A"/>
                </a:solidFill>
                <a:latin typeface="Aptos"/>
              </a:defRPr>
            </a:pPr>
            <a:r>
              <a:t>Saída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82312" y="4910328"/>
            <a:ext cx="2679192" cy="2285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52616B"/>
                </a:solidFill>
                <a:latin typeface="Aptos"/>
              </a:defRPr>
            </a:pPr>
            <a:r>
              <a:t>Matriz, resumo, evidências e chat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92440" y="4251960"/>
            <a:ext cx="3154680" cy="1051560"/>
          </a:xfrm>
          <a:prstGeom prst="roundRect">
            <a:avLst/>
          </a:prstGeom>
          <a:solidFill>
            <a:srgbClr val="F3F6F8"/>
          </a:solidFill>
          <a:ln>
            <a:solidFill>
              <a:srgbClr val="DC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92440" y="4251960"/>
            <a:ext cx="73152" cy="1051560"/>
          </a:xfrm>
          <a:prstGeom prst="rect">
            <a:avLst/>
          </a:prstGeom>
          <a:solidFill>
            <a:srgbClr val="18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48471" y="4416552"/>
            <a:ext cx="271576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12304A"/>
                </a:solidFill>
                <a:latin typeface="Aptos"/>
              </a:defRPr>
            </a:pPr>
            <a:r>
              <a:t>Contingência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48471" y="4910328"/>
            <a:ext cx="2679192" cy="2285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52616B"/>
                </a:solidFill>
                <a:latin typeface="Aptos"/>
              </a:defRPr>
            </a:pPr>
            <a:r>
              <a:t>Persistência local e modo demo explícito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9184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8A6A6"/>
                </a:solidFill>
                <a:latin typeface="Aptos"/>
              </a:defRPr>
            </a:pPr>
            <a:r>
              <a:t>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7899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700" b="1">
                <a:solidFill>
                  <a:srgbClr val="12304A"/>
                </a:solidFill>
                <a:latin typeface="Aptos"/>
              </a:defRPr>
            </a:pPr>
            <a:r>
              <a:t>Limitações conhecidas orientam a evolução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89888"/>
            <a:ext cx="1005840" cy="54864"/>
          </a:xfrm>
          <a:prstGeom prst="rect">
            <a:avLst/>
          </a:prstGeom>
          <a:solidFill>
            <a:srgbClr val="F26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01400" y="320040"/>
            <a:ext cx="365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2616B"/>
                </a:solidFill>
                <a:latin typeface="Aptos"/>
              </a:defRPr>
            </a:pPr>
            <a:r>
              <a:t>08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737360"/>
            <a:ext cx="3474720" cy="3429000"/>
          </a:xfrm>
          <a:prstGeom prst="roundRect">
            <a:avLst/>
          </a:prstGeom>
          <a:solidFill>
            <a:srgbClr val="F3F6F8"/>
          </a:solidFill>
          <a:ln>
            <a:solidFill>
              <a:srgbClr val="DC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737360"/>
            <a:ext cx="73152" cy="3429000"/>
          </a:xfrm>
          <a:prstGeom prst="rect">
            <a:avLst/>
          </a:prstGeom>
          <a:solidFill>
            <a:srgbClr val="F26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1901952"/>
            <a:ext cx="3035807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12304A"/>
                </a:solidFill>
                <a:latin typeface="Aptos"/>
              </a:defRPr>
            </a:pPr>
            <a:r>
              <a:t>Hoje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2395728"/>
            <a:ext cx="2999232" cy="2606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52616B"/>
                </a:solidFill>
                <a:latin typeface="Aptos"/>
              </a:defRPr>
            </a:pPr>
            <a:r>
              <a:t>• OCR depende da qualidade</a:t>
            </a:r>
            <a:br/>
            <a:r>
              <a:t>• Revisão jurídica é obrigatória</a:t>
            </a:r>
            <a:br/>
            <a:r>
              <a:t>• Busca lexical no copiloto</a:t>
            </a:r>
            <a:br/>
            <a:r>
              <a:t>• SQLite e usuário local</a:t>
            </a:r>
            <a:br/>
            <a:r>
              <a:t>• Taxonomia focada em D&amp;O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2" y="1737360"/>
            <a:ext cx="3474720" cy="3429000"/>
          </a:xfrm>
          <a:prstGeom prst="roundRect">
            <a:avLst/>
          </a:prstGeom>
          <a:solidFill>
            <a:srgbClr val="F3F6F8"/>
          </a:solidFill>
          <a:ln>
            <a:solidFill>
              <a:srgbClr val="DC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70832" y="1737360"/>
            <a:ext cx="73152" cy="3429000"/>
          </a:xfrm>
          <a:prstGeom prst="rect">
            <a:avLst/>
          </a:prstGeom>
          <a:solidFill>
            <a:srgbClr val="18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26864" y="1901952"/>
            <a:ext cx="3035807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12304A"/>
                </a:solidFill>
                <a:latin typeface="Aptos"/>
              </a:defRPr>
            </a:pPr>
            <a:r>
              <a:t>Próximos passos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26864" y="2395728"/>
            <a:ext cx="2999232" cy="2606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52616B"/>
                </a:solidFill>
                <a:latin typeface="Aptos"/>
              </a:defRPr>
            </a:pPr>
            <a:r>
              <a:t>• Revisão humana assistida</a:t>
            </a:r>
            <a:br/>
            <a:r>
              <a:t>• Métricas em conjunto rotulado</a:t>
            </a:r>
            <a:br/>
            <a:r>
              <a:t>• Busca híbrida / embeddings</a:t>
            </a:r>
            <a:br/>
            <a:r>
              <a:t>• Endossos e apólice-base</a:t>
            </a:r>
            <a:br/>
            <a:r>
              <a:t>• Custos por documento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55864" y="1737360"/>
            <a:ext cx="3474720" cy="3429000"/>
          </a:xfrm>
          <a:prstGeom prst="roundRect">
            <a:avLst/>
          </a:prstGeom>
          <a:solidFill>
            <a:srgbClr val="F3F6F8"/>
          </a:solidFill>
          <a:ln>
            <a:solidFill>
              <a:srgbClr val="DC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55864" y="1737360"/>
            <a:ext cx="73152" cy="3429000"/>
          </a:xfrm>
          <a:prstGeom prst="rect">
            <a:avLst/>
          </a:prstGeom>
          <a:solidFill>
            <a:srgbClr val="18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11896" y="1901952"/>
            <a:ext cx="303580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12304A"/>
                </a:solidFill>
                <a:latin typeface="Aptos"/>
              </a:defRPr>
            </a:pPr>
            <a:r>
              <a:t>Visão futura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11896" y="2395728"/>
            <a:ext cx="2999232" cy="2606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52616B"/>
                </a:solidFill>
                <a:latin typeface="Aptos"/>
              </a:defRPr>
            </a:pPr>
            <a:r>
              <a:t>• Perfis e trilha de auditoria</a:t>
            </a:r>
            <a:br/>
            <a:r>
              <a:t>• Novos produtos de seguro</a:t>
            </a:r>
            <a:br/>
            <a:r>
              <a:t>• Implantação privada</a:t>
            </a:r>
            <a:br/>
            <a:r>
              <a:t>• Integração com corretoras</a:t>
            </a:r>
            <a:br/>
            <a:r>
              <a:t>• Aprendizado com correções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30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9184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Aptos"/>
              </a:defRPr>
            </a:pPr>
            <a:r>
              <a:t>ENCERRAMENTO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7899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Aptos"/>
              </a:defRPr>
            </a:pPr>
            <a:r>
              <a:t>Uma decisão melhor começa por uma evidência melhor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89888"/>
            <a:ext cx="1005840" cy="54864"/>
          </a:xfrm>
          <a:prstGeom prst="rect">
            <a:avLst/>
          </a:prstGeom>
          <a:solidFill>
            <a:srgbClr val="F26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01400" y="320040"/>
            <a:ext cx="365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Aptos"/>
              </a:defRPr>
            </a:pPr>
            <a:r>
              <a:t>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828800"/>
            <a:ext cx="9875520" cy="1508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700" b="1">
                <a:solidFill>
                  <a:srgbClr val="FFFFFF"/>
                </a:solidFill>
                <a:latin typeface="Aptos"/>
              </a:defRPr>
            </a:pPr>
            <a:r>
              <a:t>A InsurMinds transforma apólices complexas em uma comparação estruturada, explicável e verificável — sem retirar o especialista da decisão.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886200"/>
            <a:ext cx="9601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600" b="1">
                <a:solidFill>
                  <a:srgbClr val="18A6A6"/>
                </a:solidFill>
                <a:latin typeface="Aptos"/>
              </a:defRPr>
            </a:pPr>
            <a:r>
              <a:t>PROBLEMA  →  EVIDÊNCIA  →  COMPARAÇÃO  →  DECISÃO HUMANA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5806440"/>
            <a:ext cx="9784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EQUIPE: PREENCHER NOMES · REPOSITÓRIO: PREENCHER URL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