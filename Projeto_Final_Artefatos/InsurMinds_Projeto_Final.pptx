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INSURMINDS · PROJETO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Apólices complexas. Comparações explicáveis.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675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Plataforma inteligente para análise e comparação de seguros D&amp;O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949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18C2F2"/>
                </a:solidFill>
                <a:latin typeface="Aptos"/>
              </a:defRPr>
            </a:pPr>
            <a:r>
              <a:t>Extração estruturada · Evidência por página · Comparação assistida por IA</a:t>
            </a:r>
          </a:p>
        </p:txBody>
      </p:sp>
      <p:sp>
        <p:nvSpPr>
          <p:cNvPr id="8" name="Hexagon 7"/>
          <p:cNvSpPr/>
          <p:nvPr/>
        </p:nvSpPr>
        <p:spPr>
          <a:xfrm>
            <a:off x="8686800" y="1965960"/>
            <a:ext cx="2148840" cy="2331720"/>
          </a:xfrm>
          <a:prstGeom prst="hexagon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578608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D&amp;O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081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LATINTECH · Fábio Castro · Lucas Godois · Pedro Campos · Rogério Sousa · Fernando Gonçalves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Comparar apólices ainda é um trabalho manual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828800"/>
            <a:ext cx="3520440" cy="32004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32004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6B5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9339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Documentos extensos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304495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Cláusulas, limites e exclusões aparecem em páginas diferentes e com terminologia pouco padronizada.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2004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73152" cy="32004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6B5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99339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Risco de omissão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87168"/>
            <a:ext cx="304495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Uma diferença relevante pode ficar escondida em condições particulares, exclusões ou endossos.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520440" cy="32004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73152" cy="32004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6B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99339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Resultado difícil de auditar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87168"/>
            <a:ext cx="304495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Um resumo sem página e trecho não permite que o especialista confira rapidamente a conclusão.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32120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2304A"/>
                </a:solidFill>
                <a:latin typeface="Aptos"/>
              </a:defRPr>
            </a:pPr>
            <a:r>
              <a:t>O objetivo não é retirar o especialista — é reduzir leitura repetitiva e aumentar rastreabilidade.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Da leitura dispersa à comparação verificável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Aptos"/>
              </a:defRPr>
            </a:pPr>
            <a:r>
              <a:t>Enviar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2616B"/>
                </a:solidFill>
                <a:latin typeface="Aptos"/>
              </a:defRPr>
            </a:pPr>
            <a:r>
              <a:t>PDF ou imagem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1368" y="2130552"/>
            <a:ext cx="758952" cy="3657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99232" y="1828800"/>
            <a:ext cx="640080" cy="64008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97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Aptos"/>
              </a:defRPr>
            </a:pPr>
            <a:r>
              <a:t>Extrair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127248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2616B"/>
                </a:solidFill>
                <a:latin typeface="Aptos"/>
              </a:defRPr>
            </a:pPr>
            <a:r>
              <a:t>texto + OCR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30552"/>
            <a:ext cx="758952" cy="3657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01184" y="1828800"/>
            <a:ext cx="640080" cy="64008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697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Aptos"/>
              </a:defRPr>
            </a:pPr>
            <a:r>
              <a:t>Estruturar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3127248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2616B"/>
                </a:solidFill>
                <a:latin typeface="Aptos"/>
              </a:defRPr>
            </a:pPr>
            <a:r>
              <a:t>26 critérios D&amp;O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5272" y="2130552"/>
            <a:ext cx="758952" cy="3657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03136" y="1828800"/>
            <a:ext cx="640080" cy="64008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697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127248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2616B"/>
                </a:solidFill>
                <a:latin typeface="Aptos"/>
              </a:defRPr>
            </a:pPr>
            <a:r>
              <a:t>página + trecho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07224" y="2130552"/>
            <a:ext cx="758952" cy="3657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05088" y="1828800"/>
            <a:ext cx="640080" cy="64008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05088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2697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Aptos"/>
              </a:defRPr>
            </a:pPr>
            <a:r>
              <a:t>Comparar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3127248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2616B"/>
                </a:solidFill>
                <a:latin typeface="Aptos"/>
              </a:defRPr>
            </a:pPr>
            <a:r>
              <a:t>matriz e atenção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09176" y="2130552"/>
            <a:ext cx="758952" cy="3657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0" y="1828800"/>
            <a:ext cx="640080" cy="64008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697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Aptos"/>
              </a:defRPr>
            </a:pPr>
            <a:r>
              <a:t>Consultar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127248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2616B"/>
                </a:solidFill>
                <a:latin typeface="Aptos"/>
              </a:defRPr>
            </a:pPr>
            <a:r>
              <a:t>copiloto fundamentado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0749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26B5B"/>
                </a:solidFill>
                <a:latin typeface="Aptos"/>
              </a:defRPr>
            </a:pPr>
            <a:r>
              <a:t>Diferencial: um dado sem evidência verificável não entra na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Arquitetura híbrida: IA onde agrega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1965960"/>
            <a:ext cx="150876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9424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Documento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2616B"/>
                </a:solidFill>
                <a:latin typeface="Aptos"/>
              </a:defRPr>
            </a:pPr>
            <a:r>
              <a:t>PDF / imagem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957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C2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965960"/>
            <a:ext cx="150876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249424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Leitura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517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2616B"/>
                </a:solidFill>
                <a:latin typeface="Aptos"/>
              </a:defRPr>
            </a:pPr>
            <a:r>
              <a:t>PyMuPDF +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957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C2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65960"/>
            <a:ext cx="1508760" cy="1371600"/>
          </a:xfrm>
          <a:prstGeom prst="roundRect">
            <a:avLst/>
          </a:prstGeom>
          <a:solidFill>
            <a:srgbClr val="12304A"/>
          </a:solidFill>
          <a:ln>
            <a:solidFill>
              <a:srgbClr val="18C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249424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Extração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517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API conversacional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957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C2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965960"/>
            <a:ext cx="150876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249424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517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2616B"/>
                </a:solidFill>
                <a:latin typeface="Aptos"/>
              </a:defRPr>
            </a:pPr>
            <a:r>
              <a:t>Pydantic + evidência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3957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C2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1965960"/>
            <a:ext cx="150876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249424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517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2616B"/>
                </a:solidFill>
                <a:latin typeface="Aptos"/>
              </a:defRPr>
            </a:pPr>
            <a:r>
              <a:t>SQLite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957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C2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1965960"/>
            <a:ext cx="1508760" cy="1371600"/>
          </a:xfrm>
          <a:prstGeom prst="roundRect">
            <a:avLst/>
          </a:prstGeom>
          <a:solidFill>
            <a:srgbClr val="12304A"/>
          </a:solidFill>
          <a:ln>
            <a:solidFill>
              <a:srgbClr val="18C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49424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Experiência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6517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Streamlit + relatório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069080"/>
            <a:ext cx="315468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069080"/>
            <a:ext cx="73152" cy="123444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23367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Código determinístico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727448"/>
            <a:ext cx="2679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Datas, valores, estados, cache e diferenças reproduzíveis.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069080"/>
            <a:ext cx="315468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4069080"/>
            <a:ext cx="73152" cy="123444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82312" y="423367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IA generativa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4727448"/>
            <a:ext cx="2679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Interpretação de cláusulas, síntese e perguntas em linguagem natural.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069080"/>
            <a:ext cx="315468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4069080"/>
            <a:ext cx="73152" cy="123444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423367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Humano no controle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4727448"/>
            <a:ext cx="2679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Evidências, ambiguidades e ressalvas ficam visíveis para conferência.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ORQUESTRAÇÃO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Agentes pequenos, especializados e testáveis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783080"/>
            <a:ext cx="3493008" cy="16002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73152" cy="160020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C2F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47672"/>
            <a:ext cx="26883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Leitor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Valida arquivo e preserva texto por página.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783080"/>
            <a:ext cx="3493008" cy="16002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1783080"/>
            <a:ext cx="73152" cy="16002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9476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6B5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1947672"/>
            <a:ext cx="2688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Extrator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4414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Mapeia cláusulas à taxonomia fechada.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3" y="1783080"/>
            <a:ext cx="3493008" cy="16002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0183" y="1783080"/>
            <a:ext cx="73152" cy="160020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9476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C2F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1947672"/>
            <a:ext cx="2688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Auditor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5" y="24414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Rejeita página ou trecho não confirmável.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49039"/>
            <a:ext cx="3493008" cy="16002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49039"/>
            <a:ext cx="73152" cy="16002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13631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6B5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913631"/>
            <a:ext cx="26883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Comparador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407407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Confronta valores e interpreta diferenças.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749039"/>
            <a:ext cx="3493008" cy="16002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07992" y="3749039"/>
            <a:ext cx="73152" cy="160020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3913631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C2F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3" y="3913631"/>
            <a:ext cx="2688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Relator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4407407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Gera PDF, CSV e JSON auditáveis.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0183" y="3749039"/>
            <a:ext cx="3493008" cy="16002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30183" y="3749039"/>
            <a:ext cx="73152" cy="16002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3913631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6B5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3913631"/>
            <a:ext cx="2688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Copiloto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5" y="4407407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Responde somente com contexto recuperado.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CONTROLES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Confiabilidade construída fora do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1728216"/>
            <a:ext cx="320040" cy="32004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Taxonomia fechada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9164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2616B"/>
                </a:solidFill>
                <a:latin typeface="Aptos"/>
              </a:defRPr>
            </a:pPr>
            <a:r>
              <a:t>Chaves desconhecidas são descartadas.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320040" cy="320040"/>
          </a:xfrm>
          <a:prstGeom prst="ellipse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048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Evidência obrigatória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404872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2616B"/>
                </a:solidFill>
                <a:latin typeface="Aptos"/>
              </a:defRPr>
            </a:pPr>
            <a:r>
              <a:t>Página e trecho são verificados no texto original.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320040" cy="32004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11810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Estados distintos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118104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2616B"/>
                </a:solidFill>
                <a:latin typeface="Aptos"/>
              </a:defRPr>
            </a:pPr>
            <a:r>
              <a:t>Não localizado ≠ não coberto; ambiguidade fica explícita.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867911"/>
            <a:ext cx="320040" cy="320040"/>
          </a:xfrm>
          <a:prstGeom prst="ellipse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31335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Proteção de credenciais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831335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2616B"/>
                </a:solidFill>
                <a:latin typeface="Aptos"/>
              </a:defRPr>
            </a:pPr>
            <a:r>
              <a:t>Chaves em .env, nunca no banco ou Git.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581144"/>
            <a:ext cx="320040" cy="320040"/>
          </a:xfrm>
          <a:prstGeom prst="ellipse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5445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Cache por 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544568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2616B"/>
                </a:solidFill>
                <a:latin typeface="Aptos"/>
              </a:defRPr>
            </a:pPr>
            <a:r>
              <a:t>Evita custo e reprocessamento do mesmo documento.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294376"/>
            <a:ext cx="320040" cy="320040"/>
          </a:xfrm>
          <a:prstGeom prst="ellipse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57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Prompt 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25780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2616B"/>
                </a:solidFill>
                <a:latin typeface="Aptos"/>
              </a:defRPr>
            </a:pPr>
            <a:r>
              <a:t>Documento é tratado como dado não confiável.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MVP funcional e demonstrável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8C2F2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critérios D&amp;O estruturados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18288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26B5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788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apólices por comparação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8C2F2"/>
                </a:solidFill>
                <a:latin typeface="Aptos"/>
              </a:defRPr>
            </a:pPr>
            <a:r>
              <a:t>14/14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testes automatizados aprovados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59" y="18288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26B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2788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304A"/>
                </a:solidFill>
                <a:latin typeface="Aptos"/>
              </a:defRPr>
            </a:pPr>
            <a:r>
              <a:t>formatos de exportação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51960"/>
            <a:ext cx="315468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251960"/>
            <a:ext cx="73152" cy="105156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441655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910328"/>
            <a:ext cx="2679192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PDF, PNG, JPEG, TIFF e WebP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251960"/>
            <a:ext cx="315468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4251960"/>
            <a:ext cx="73152" cy="105156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441655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Saída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4910328"/>
            <a:ext cx="2679192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Matriz, resumo, evidências e chat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251960"/>
            <a:ext cx="315468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4251960"/>
            <a:ext cx="73152" cy="105156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4416552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Contingência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4910328"/>
            <a:ext cx="2679192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Persistência local e modo demo explícito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C2F2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304A"/>
                </a:solidFill>
                <a:latin typeface="Aptos"/>
              </a:defRPr>
            </a:pPr>
            <a:r>
              <a:t>Limitações conhecidas orientam a evolução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2616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6" name="Picture 5" descr="logo-latin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18872"/>
            <a:ext cx="868680" cy="5394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737360"/>
            <a:ext cx="3474720" cy="34290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3429000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01952"/>
            <a:ext cx="303580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95728"/>
            <a:ext cx="2999232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• OCR depende da qualidade</a:t>
            </a:r>
            <a:br/>
            <a:r>
              <a:t>• Revisão jurídica é obrigatória</a:t>
            </a:r>
            <a:br/>
            <a:r>
              <a:t>• Busca lexical no copiloto</a:t>
            </a:r>
            <a:br/>
            <a:r>
              <a:t>• SQLite e usuário local</a:t>
            </a:r>
            <a:br/>
            <a:r>
              <a:t>• Taxonomia focada em D&amp;O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37360"/>
            <a:ext cx="3474720" cy="34290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37360"/>
            <a:ext cx="73152" cy="342900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901952"/>
            <a:ext cx="303580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395728"/>
            <a:ext cx="2999232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• Revisão humana assistida</a:t>
            </a:r>
            <a:br/>
            <a:r>
              <a:t>• Métricas em conjunto rotulado</a:t>
            </a:r>
            <a:br/>
            <a:r>
              <a:t>• Busca híbrida / embeddings</a:t>
            </a:r>
            <a:br/>
            <a:r>
              <a:t>• Endossos e apólice-base</a:t>
            </a:r>
            <a:br/>
            <a:r>
              <a:t>• Custos por documento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737360"/>
            <a:ext cx="3474720" cy="3429000"/>
          </a:xfrm>
          <a:prstGeom prst="roundRect">
            <a:avLst/>
          </a:prstGeom>
          <a:solidFill>
            <a:srgbClr val="F3F6F8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737360"/>
            <a:ext cx="73152" cy="3429000"/>
          </a:xfrm>
          <a:prstGeom prst="rect">
            <a:avLst/>
          </a:prstGeom>
          <a:solidFill>
            <a:srgbClr val="18C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901952"/>
            <a:ext cx="3035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Visão futura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395728"/>
            <a:ext cx="2999232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6B"/>
                </a:solidFill>
                <a:latin typeface="Aptos"/>
              </a:defRPr>
            </a:pPr>
            <a:r>
              <a:t>• Perfis e trilha de auditoria</a:t>
            </a:r>
            <a:br/>
            <a:r>
              <a:t>• Novos produtos de seguro</a:t>
            </a:r>
            <a:br/>
            <a:r>
              <a:t>• Implantação privada</a:t>
            </a:r>
            <a:br/>
            <a:r>
              <a:t>• Integração com corretoras</a:t>
            </a:r>
            <a:br/>
            <a:r>
              <a:t>• Aprendizado com correções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Uma decisão melhor começa por uma evidência melhor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4864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8755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A InsurMinds transforma apólices complexas em uma comparação estruturada, explicável e verificável — sem retirar o especialista da decisão.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862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C2F2"/>
                </a:solidFill>
                <a:latin typeface="Aptos"/>
              </a:defRPr>
            </a:pPr>
            <a:r>
              <a:t>PROBLEMA  →  EVIDÊNCIA  →  COMPARAÇÃO  →  DECISÃO HUMANA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96128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GRUPO LATINTECH · Fábio Castro · Lucas Godois · Pedro Campos · Rogério Sousa · Fernando Gonçalves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710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8C2F2"/>
                </a:solidFill>
                <a:latin typeface="Aptos"/>
              </a:defRPr>
            </a:pPr>
            <a:r>
              <a:t>github.com/RogerioSousa123/insurminds-projeto-final-latintech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