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4" r:id="rId6"/>
  </p:sldIdLst>
  <p:sldSz cx="12192000" cy="6858000"/>
  <p:notesSz cx="6858000" cy="9144000"/>
  <p:embeddedFontLst>
    <p:embeddedFont>
      <p:font typeface="Montserrat" panose="00000500000000000000" pitchFamily="2" charset="0"/>
      <p:regular r:id="rId7"/>
      <p:bold r:id="rId8"/>
    </p:embeddedFont>
    <p:embeddedFont>
      <p:font typeface="Nobile" panose="020B0604020202020204" charset="0"/>
      <p:regular r:id="rId9"/>
      <p:bold r:id="rId10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147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B36CC8-899C-B76A-362B-F3537713C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CE8279-E3E2-BF90-7BD3-0BDE5F0F5A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0E7A1DD-A214-FF17-B971-47F0D0DC1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0BDD3-F36E-4C9E-9AA1-B248253E630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9046DFD-8867-0808-C6D0-CAED52FD7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DFADEDA-C049-8618-B5A3-1EEE038CB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90621-AFC5-4D56-9891-E0228DC003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6621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BE474E-AA5C-1ED7-FE20-E1A2A7D65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77C3549-1338-C18C-3521-36179297C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AB67152-0309-DD19-8925-7FEE09C9C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0BDD3-F36E-4C9E-9AA1-B248253E630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5EF7D5A-B349-E2B8-D256-D2774987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5CEAEB4-EBDC-FA99-B962-CF33A8AD2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90621-AFC5-4D56-9891-E0228DC003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3098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F472A7-3B54-44A0-4D01-8AE72A7E6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A145FB6-4EA6-8481-3D90-62D2370EFB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82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82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82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50B55CB-70C3-2B55-9450-A9826E59B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0BDD3-F36E-4C9E-9AA1-B248253E630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FE21485-EAA4-C3CD-F953-D9847AA2F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CF1E121-4857-26F7-5880-6EEE7ADE9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90621-AFC5-4D56-9891-E0228DC003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0584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E779C5-64CD-0949-B7FC-ACD50ADF8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38DB970-EB4A-C8F3-02FB-9FBB2A9963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C6A73C3-3BE3-6EB2-57D2-7BB9D2ECD4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7C01510-C093-395F-F121-F160534BE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0BDD3-F36E-4C9E-9AA1-B248253E630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9C7942B-9DFD-1ACE-8D4E-18C954AF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6E476AD-D5C3-9BA1-6150-22598D25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90621-AFC5-4D56-9891-E0228DC003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6774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7AD959-6E23-AC6C-E643-C43D94E45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496FE90-5338-A093-9812-A6B2FB7D48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756DE9F-B523-3279-7455-3C93B32960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E75545-8705-FD44-8E1A-19219D4AC7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BA94A7C-C0D9-2CF7-2DD6-F8DDCC4F85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D226C23C-EE4B-9A34-9714-04BC5AC96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0BDD3-F36E-4C9E-9AA1-B248253E630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84E3D91B-901F-B8FF-208F-41608FD63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69A03FA-BF3A-26CC-2EF1-945A30FE0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90621-AFC5-4D56-9891-E0228DC003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9983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075185-D93F-82CF-6056-72D81B363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015C6C7-5BAB-6DF6-CF33-192805634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0BDD3-F36E-4C9E-9AA1-B248253E630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30D1CFD-8E05-90F5-7A9F-0369942D0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B2BE497-88A1-23EA-6AD0-924C45FFB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90621-AFC5-4D56-9891-E0228DC003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7718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5929352-B4BD-6C5B-A552-6BA4C4722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0BDD3-F36E-4C9E-9AA1-B248253E630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54757A00-01FD-C21F-18F4-3F7A826C9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6412F1C-4DE9-1912-060A-76B42C628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90621-AFC5-4D56-9891-E0228DC003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702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64CDA4-ACED-58C0-4EEC-AADD7B9E6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6C46504-766C-CB36-E425-F7BFA1E33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7CDAF04-EC3A-7C10-5F79-3284D841D6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3F49436-4EBA-06D3-7543-D23827B51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0BDD3-F36E-4C9E-9AA1-B248253E630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2538747-507C-2DBF-523E-A77B4E276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1AAA255-4DAA-FDB1-9D5E-B5117071E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90621-AFC5-4D56-9891-E0228DC003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321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8141DE-6D9D-2B81-9B48-2E39CCA37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B4C9F0B-2DA0-066B-539B-3A560F56BCA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6F82AF6-2A1B-9BC7-07FF-81D594B5D9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D8148DA-9C06-78B8-E787-C70AB26F3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0BDD3-F36E-4C9E-9AA1-B248253E630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BF2530A-DE9B-4228-A693-40EE5F900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FD82309-A8B0-72E3-F176-9E2959FC2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90621-AFC5-4D56-9891-E0228DC003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9094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1B0945-6D2A-105F-8FE9-75C98F3B6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8373EA4-E785-3CFE-1671-9F62421D3D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3353EB-9FDF-156E-04D9-3C1BB76B7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0BDD3-F36E-4C9E-9AA1-B248253E630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53DBFC-733C-2445-1AF9-D815B065D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2B122A1-2339-85FF-D59D-747849AB9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90621-AFC5-4D56-9891-E0228DC003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0971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48E8EE8-CBFC-0220-55ED-630D08D9AA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E300686-B1EE-FDDC-D9A2-4151AEA6AB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480C388-A4BB-C9A6-808E-9C4B57F4B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0BDD3-F36E-4C9E-9AA1-B248253E630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078C0C-AE6A-7BEC-93A0-0245F87BF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D34D717-EEFE-C467-3C8C-6EDB6C72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90621-AFC5-4D56-9891-E0228DC003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64847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C840BB85-B3AB-E345-8F1A-A4CEDD0C5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E39F736-0399-CF9E-2814-8CF5200755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002A2F8-CD53-CE18-9AE5-C10A00E66E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B0BDD3-F36E-4C9E-9AA1-B248253E630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F9907FF-04AA-F4D3-D7E6-C94459F0E1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04521C1-74E8-2B88-F949-6AEC177B9B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B90621-AFC5-4D56-9891-E0228DC003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2089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1576F86-04BB-39E2-206F-94E3139872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A1C3A"/>
              </a:gs>
              <a:gs pos="100000">
                <a:srgbClr val="0E0F24"/>
              </a:gs>
            </a:gsLst>
            <a:lin ang="4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E7875A9-33FD-3A3B-8D08-77D90D5490C6}"/>
              </a:ext>
            </a:extLst>
          </p:cNvPr>
          <p:cNvSpPr txBox="1">
            <a:spLocks/>
          </p:cNvSpPr>
          <p:nvPr/>
        </p:nvSpPr>
        <p:spPr>
          <a:xfrm>
            <a:off x="9986264" y="1228725"/>
            <a:ext cx="2780352" cy="32480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6800"/>
              </a:lnSpc>
            </a:pPr>
            <a:r>
              <a:rPr lang="pt-BR" sz="21000" b="1" spc="-420">
                <a:solidFill>
                  <a:srgbClr val="272940"/>
                </a:solidFill>
                <a:latin typeface="Montserrat" panose="00000500000000000000" pitchFamily="2" charset="0"/>
              </a:rPr>
              <a:t>01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FEEF690-03BC-5466-78A7-945130F346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3533" y="552450"/>
            <a:ext cx="1904933" cy="1182878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42CE9CF1-A7CC-49E1-FF94-8E8F7838437A}"/>
              </a:ext>
            </a:extLst>
          </p:cNvPr>
          <p:cNvSpPr/>
          <p:nvPr/>
        </p:nvSpPr>
        <p:spPr>
          <a:xfrm>
            <a:off x="5962650" y="2097278"/>
            <a:ext cx="266700" cy="28575"/>
          </a:xfrm>
          <a:prstGeom prst="rect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35DC106-8717-92DC-9B17-4FE881A112BC}"/>
              </a:ext>
            </a:extLst>
          </p:cNvPr>
          <p:cNvSpPr txBox="1">
            <a:spLocks/>
          </p:cNvSpPr>
          <p:nvPr/>
        </p:nvSpPr>
        <p:spPr>
          <a:xfrm>
            <a:off x="4811578" y="2278254"/>
            <a:ext cx="2568716" cy="1428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300"/>
              </a:lnSpc>
            </a:pPr>
            <a:r>
              <a:rPr lang="pt-BR" sz="900" b="1" spc="198">
                <a:solidFill>
                  <a:srgbClr val="FFFFFF"/>
                </a:solidFill>
                <a:latin typeface="Montserrat" panose="00000500000000000000" pitchFamily="2" charset="0"/>
              </a:rPr>
              <a:t>INSURMINDS · PROJETO FINAL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DE8F2F2-6BCD-CE31-5EAC-80A82804E1D9}"/>
              </a:ext>
            </a:extLst>
          </p:cNvPr>
          <p:cNvSpPr txBox="1">
            <a:spLocks/>
          </p:cNvSpPr>
          <p:nvPr/>
        </p:nvSpPr>
        <p:spPr>
          <a:xfrm>
            <a:off x="2348032" y="2590673"/>
            <a:ext cx="7495936" cy="125628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4600"/>
              </a:lnSpc>
            </a:pPr>
            <a:r>
              <a:rPr lang="pt-BR" sz="4350" b="1" spc="-43">
                <a:solidFill>
                  <a:srgbClr val="FFFFFF"/>
                </a:solidFill>
                <a:latin typeface="Montserrat" panose="00000500000000000000" pitchFamily="2" charset="0"/>
              </a:rPr>
              <a:t>Apólices complexas.</a:t>
            </a:r>
          </a:p>
          <a:p>
            <a:pPr algn="ctr">
              <a:lnSpc>
                <a:spcPts val="4600"/>
              </a:lnSpc>
            </a:pPr>
            <a:r>
              <a:rPr lang="pt-BR" sz="4350" b="1" spc="-43">
                <a:solidFill>
                  <a:srgbClr val="FFFFFF"/>
                </a:solidFill>
                <a:latin typeface="Montserrat" panose="00000500000000000000" pitchFamily="2" charset="0"/>
              </a:rPr>
              <a:t>Comparações explicáveis.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2D07D1B-D19F-5546-90C2-5D0F6C7CFA9F}"/>
              </a:ext>
            </a:extLst>
          </p:cNvPr>
          <p:cNvSpPr txBox="1">
            <a:spLocks/>
          </p:cNvSpPr>
          <p:nvPr/>
        </p:nvSpPr>
        <p:spPr>
          <a:xfrm>
            <a:off x="2367915" y="4045966"/>
            <a:ext cx="7456170" cy="58864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600"/>
              </a:lnSpc>
            </a:pPr>
            <a:r>
              <a:rPr lang="pt-BR">
                <a:solidFill>
                  <a:srgbClr val="FFFFFF"/>
                </a:solidFill>
                <a:latin typeface="Nobile"/>
              </a:rPr>
              <a:t>Plataforma inteligente para análise e comparação de seguros D&amp;O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AFFDAB3-CFB5-601B-51A5-B4B09C97D9F0}"/>
              </a:ext>
            </a:extLst>
          </p:cNvPr>
          <p:cNvSpPr/>
          <p:nvPr/>
        </p:nvSpPr>
        <p:spPr>
          <a:xfrm>
            <a:off x="4095750" y="4965954"/>
            <a:ext cx="4000500" cy="9525"/>
          </a:xfrm>
          <a:prstGeom prst="rect">
            <a:avLst/>
          </a:prstGeom>
          <a:solidFill>
            <a:srgbClr val="FFFFFF">
              <a:alpha val="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E7F628DD-8006-827A-0B1B-7FAB1B29753E}"/>
              </a:ext>
            </a:extLst>
          </p:cNvPr>
          <p:cNvSpPr/>
          <p:nvPr/>
        </p:nvSpPr>
        <p:spPr>
          <a:xfrm>
            <a:off x="2976245" y="5223129"/>
            <a:ext cx="691896" cy="306578"/>
          </a:xfrm>
          <a:prstGeom prst="roundRect">
            <a:avLst>
              <a:gd name="adj" fmla="val 50000"/>
            </a:avLst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E324E8F-AAB3-6FCD-4E7F-4350E7184F2C}"/>
              </a:ext>
            </a:extLst>
          </p:cNvPr>
          <p:cNvSpPr txBox="1">
            <a:spLocks/>
          </p:cNvSpPr>
          <p:nvPr/>
        </p:nvSpPr>
        <p:spPr>
          <a:xfrm>
            <a:off x="3134995" y="5299329"/>
            <a:ext cx="374396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400"/>
              </a:lnSpc>
            </a:pPr>
            <a:r>
              <a:rPr lang="pt-BR" sz="975" b="1" spc="137">
                <a:solidFill>
                  <a:srgbClr val="FFFFFF"/>
                </a:solidFill>
                <a:latin typeface="Montserrat" panose="00000500000000000000" pitchFamily="2" charset="0"/>
              </a:rPr>
              <a:t>D&amp;O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1951C9E-2390-34A2-0E5C-88AEB79B48DE}"/>
              </a:ext>
            </a:extLst>
          </p:cNvPr>
          <p:cNvSpPr txBox="1">
            <a:spLocks/>
          </p:cNvSpPr>
          <p:nvPr/>
        </p:nvSpPr>
        <p:spPr>
          <a:xfrm>
            <a:off x="3758950" y="5279264"/>
            <a:ext cx="5537318" cy="1809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700"/>
              </a:lnSpc>
            </a:pPr>
            <a:r>
              <a:rPr lang="pt-BR" sz="1200">
                <a:solidFill>
                  <a:srgbClr val="FFFFFF"/>
                </a:solidFill>
                <a:latin typeface="Nobile"/>
              </a:rPr>
              <a:t>Extração estruturada · Evidência por página · Comparação assistida por IA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E2DD992-B177-3971-6A89-66B99FAE3CFF}"/>
              </a:ext>
            </a:extLst>
          </p:cNvPr>
          <p:cNvSpPr/>
          <p:nvPr/>
        </p:nvSpPr>
        <p:spPr>
          <a:xfrm>
            <a:off x="838200" y="5915025"/>
            <a:ext cx="10515600" cy="28575"/>
          </a:xfrm>
          <a:prstGeom prst="rect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C5C32A0-77A4-9176-4478-2952A89F7130}"/>
              </a:ext>
            </a:extLst>
          </p:cNvPr>
          <p:cNvSpPr txBox="1">
            <a:spLocks/>
          </p:cNvSpPr>
          <p:nvPr/>
        </p:nvSpPr>
        <p:spPr>
          <a:xfrm>
            <a:off x="680466" y="6223762"/>
            <a:ext cx="10831068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lang="pt-BR" sz="1050" spc="42">
                <a:solidFill>
                  <a:srgbClr val="DCDCE0"/>
                </a:solidFill>
                <a:latin typeface="Nobile"/>
              </a:rPr>
              <a:t>LATINTECH · Fábio Castro · Lucas Godois · Pedro Campos · Rogério Sousa · Fernando Gonçalves</a:t>
            </a:r>
          </a:p>
        </p:txBody>
      </p:sp>
    </p:spTree>
    <p:extLst>
      <p:ext uri="{BB962C8B-B14F-4D97-AF65-F5344CB8AC3E}">
        <p14:creationId xmlns:p14="http://schemas.microsoft.com/office/powerpoint/2010/main" val="2107987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93478E4-28E7-D305-31B3-A8316902FC7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0626A8D-A50A-1417-B9E8-7A8802E3DE6D}"/>
              </a:ext>
            </a:extLst>
          </p:cNvPr>
          <p:cNvSpPr txBox="1">
            <a:spLocks/>
          </p:cNvSpPr>
          <p:nvPr/>
        </p:nvSpPr>
        <p:spPr>
          <a:xfrm>
            <a:off x="9534398" y="2190750"/>
            <a:ext cx="3316339" cy="32480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6400"/>
              </a:lnSpc>
            </a:pPr>
            <a:r>
              <a:rPr lang="pt-BR" sz="21000" b="1" spc="-420">
                <a:solidFill>
                  <a:srgbClr val="EDEDEF"/>
                </a:solidFill>
                <a:latin typeface="Montserrat" panose="00000500000000000000" pitchFamily="2" charset="0"/>
              </a:rPr>
              <a:t>02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8E29D85-D7B8-2C2E-E3B6-88A26D69E167}"/>
              </a:ext>
            </a:extLst>
          </p:cNvPr>
          <p:cNvSpPr/>
          <p:nvPr/>
        </p:nvSpPr>
        <p:spPr>
          <a:xfrm>
            <a:off x="838200" y="838200"/>
            <a:ext cx="266700" cy="28575"/>
          </a:xfrm>
          <a:prstGeom prst="rect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81D76B1-0557-EA2F-9B0C-2099552BAD74}"/>
              </a:ext>
            </a:extLst>
          </p:cNvPr>
          <p:cNvSpPr txBox="1">
            <a:spLocks/>
          </p:cNvSpPr>
          <p:nvPr/>
        </p:nvSpPr>
        <p:spPr>
          <a:xfrm>
            <a:off x="838200" y="1000126"/>
            <a:ext cx="6187440" cy="1428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300"/>
              </a:lnSpc>
            </a:pPr>
            <a:r>
              <a:rPr lang="pt-BR" sz="900" b="1" spc="198">
                <a:solidFill>
                  <a:srgbClr val="1A1C3A"/>
                </a:solidFill>
                <a:latin typeface="Montserrat" panose="00000500000000000000" pitchFamily="2" charset="0"/>
              </a:rPr>
              <a:t>PROBLEMA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023C549-3AB0-CFCE-7F9E-F0A9E389CABB}"/>
              </a:ext>
            </a:extLst>
          </p:cNvPr>
          <p:cNvSpPr txBox="1">
            <a:spLocks/>
          </p:cNvSpPr>
          <p:nvPr/>
        </p:nvSpPr>
        <p:spPr>
          <a:xfrm>
            <a:off x="838200" y="1322070"/>
            <a:ext cx="6187440" cy="89344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3400"/>
              </a:lnSpc>
            </a:pPr>
            <a:r>
              <a:rPr lang="pt-BR" sz="3000" b="1">
                <a:solidFill>
                  <a:srgbClr val="1A1C3A"/>
                </a:solidFill>
                <a:latin typeface="Montserrat" panose="00000500000000000000" pitchFamily="2" charset="0"/>
              </a:rPr>
              <a:t>Comparar apólices ainda é um trabalho manual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BE8E13E1-AEFD-51E6-44DA-7DCACEC4F7B4}"/>
              </a:ext>
            </a:extLst>
          </p:cNvPr>
          <p:cNvSpPr/>
          <p:nvPr/>
        </p:nvSpPr>
        <p:spPr>
          <a:xfrm>
            <a:off x="838200" y="2895600"/>
            <a:ext cx="3352800" cy="2030476"/>
          </a:xfrm>
          <a:prstGeom prst="roundRect">
            <a:avLst>
              <a:gd name="adj" fmla="val 6568"/>
            </a:avLst>
          </a:prstGeom>
          <a:solidFill>
            <a:srgbClr val="F2F6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506F0B8-EC47-B7B5-1349-668CDFF17387}"/>
              </a:ext>
            </a:extLst>
          </p:cNvPr>
          <p:cNvSpPr/>
          <p:nvPr/>
        </p:nvSpPr>
        <p:spPr>
          <a:xfrm>
            <a:off x="838200" y="2895600"/>
            <a:ext cx="3352800" cy="38100"/>
          </a:xfrm>
          <a:prstGeom prst="rect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0D06796E-7B18-AE08-8718-DBF6D4C399DC}"/>
              </a:ext>
            </a:extLst>
          </p:cNvPr>
          <p:cNvSpPr/>
          <p:nvPr/>
        </p:nvSpPr>
        <p:spPr>
          <a:xfrm>
            <a:off x="1085850" y="31623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4FEA79A-E53D-1013-114B-FB227C00DDC4}"/>
              </a:ext>
            </a:extLst>
          </p:cNvPr>
          <p:cNvSpPr txBox="1">
            <a:spLocks/>
          </p:cNvSpPr>
          <p:nvPr/>
        </p:nvSpPr>
        <p:spPr>
          <a:xfrm>
            <a:off x="1073150" y="3248025"/>
            <a:ext cx="4064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3000"/>
              </a:lnSpc>
            </a:pPr>
            <a:r>
              <a:rPr lang="pt-BR" sz="1350" b="1">
                <a:solidFill>
                  <a:srgbClr val="FFFFFF"/>
                </a:solidFill>
                <a:latin typeface="Montserrat" panose="00000500000000000000" pitchFamily="2" charset="0"/>
              </a:rPr>
              <a:t>1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7FA0C12-416F-59A8-1F03-36120259DB1F}"/>
              </a:ext>
            </a:extLst>
          </p:cNvPr>
          <p:cNvSpPr txBox="1">
            <a:spLocks/>
          </p:cNvSpPr>
          <p:nvPr/>
        </p:nvSpPr>
        <p:spPr>
          <a:xfrm>
            <a:off x="1085850" y="3676651"/>
            <a:ext cx="2900363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700"/>
              </a:lnSpc>
            </a:pPr>
            <a:r>
              <a:rPr lang="pt-BR" sz="1425" b="1">
                <a:solidFill>
                  <a:srgbClr val="1A1C3A"/>
                </a:solidFill>
                <a:latin typeface="Montserrat" panose="00000500000000000000" pitchFamily="2" charset="0"/>
              </a:rPr>
              <a:t>Documentos extensos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B528102-B60A-2D38-518A-AC0A40701680}"/>
              </a:ext>
            </a:extLst>
          </p:cNvPr>
          <p:cNvSpPr txBox="1">
            <a:spLocks/>
          </p:cNvSpPr>
          <p:nvPr/>
        </p:nvSpPr>
        <p:spPr>
          <a:xfrm>
            <a:off x="1085850" y="4011676"/>
            <a:ext cx="2900363" cy="6381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800"/>
              </a:lnSpc>
            </a:pPr>
            <a:r>
              <a:rPr lang="pt-BR" sz="1200">
                <a:solidFill>
                  <a:srgbClr val="5A6076"/>
                </a:solidFill>
                <a:latin typeface="Nobile"/>
              </a:rPr>
              <a:t>Cláusulas, limites e exclusões aparecem em páginas diferentes e com terminologia pouco padronizada.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4F639763-C57F-06B2-8F59-F0B62D255215}"/>
              </a:ext>
            </a:extLst>
          </p:cNvPr>
          <p:cNvSpPr/>
          <p:nvPr/>
        </p:nvSpPr>
        <p:spPr>
          <a:xfrm>
            <a:off x="4419600" y="2895600"/>
            <a:ext cx="3352800" cy="2030476"/>
          </a:xfrm>
          <a:prstGeom prst="roundRect">
            <a:avLst>
              <a:gd name="adj" fmla="val 6568"/>
            </a:avLst>
          </a:prstGeom>
          <a:solidFill>
            <a:srgbClr val="F2F6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159AB35E-0861-F0DE-0178-14750CF00EE0}"/>
              </a:ext>
            </a:extLst>
          </p:cNvPr>
          <p:cNvSpPr/>
          <p:nvPr/>
        </p:nvSpPr>
        <p:spPr>
          <a:xfrm>
            <a:off x="4419600" y="2895600"/>
            <a:ext cx="3352800" cy="38100"/>
          </a:xfrm>
          <a:prstGeom prst="rect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8BBBA789-C15C-9041-8BF0-DF78D7477DF6}"/>
              </a:ext>
            </a:extLst>
          </p:cNvPr>
          <p:cNvSpPr/>
          <p:nvPr/>
        </p:nvSpPr>
        <p:spPr>
          <a:xfrm>
            <a:off x="4667250" y="31623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46FF858-0732-C6E0-031E-E69F38AF473C}"/>
              </a:ext>
            </a:extLst>
          </p:cNvPr>
          <p:cNvSpPr txBox="1">
            <a:spLocks/>
          </p:cNvSpPr>
          <p:nvPr/>
        </p:nvSpPr>
        <p:spPr>
          <a:xfrm>
            <a:off x="4654550" y="3248025"/>
            <a:ext cx="4064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3000"/>
              </a:lnSpc>
            </a:pPr>
            <a:r>
              <a:rPr lang="pt-BR" sz="1350" b="1">
                <a:solidFill>
                  <a:srgbClr val="FFFFFF"/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066D9A13-2F06-3783-1954-44FB1EDD5918}"/>
              </a:ext>
            </a:extLst>
          </p:cNvPr>
          <p:cNvSpPr txBox="1">
            <a:spLocks/>
          </p:cNvSpPr>
          <p:nvPr/>
        </p:nvSpPr>
        <p:spPr>
          <a:xfrm>
            <a:off x="4667250" y="3676651"/>
            <a:ext cx="2900363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700"/>
              </a:lnSpc>
            </a:pPr>
            <a:r>
              <a:rPr lang="pt-BR" sz="1425" b="1">
                <a:solidFill>
                  <a:srgbClr val="1A1C3A"/>
                </a:solidFill>
                <a:latin typeface="Montserrat" panose="00000500000000000000" pitchFamily="2" charset="0"/>
              </a:rPr>
              <a:t>Risco de omissão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A120260-FBA1-CD78-DFDF-A7B0A70248EC}"/>
              </a:ext>
            </a:extLst>
          </p:cNvPr>
          <p:cNvSpPr txBox="1">
            <a:spLocks/>
          </p:cNvSpPr>
          <p:nvPr/>
        </p:nvSpPr>
        <p:spPr>
          <a:xfrm>
            <a:off x="4667250" y="4011676"/>
            <a:ext cx="2900363" cy="6381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800"/>
              </a:lnSpc>
            </a:pPr>
            <a:r>
              <a:rPr lang="pt-BR" sz="1200">
                <a:solidFill>
                  <a:srgbClr val="5A6076"/>
                </a:solidFill>
                <a:latin typeface="Nobile"/>
              </a:rPr>
              <a:t>Uma diferença relevante pode ficar escondida em condições particulares, exclusões ou endossos.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32194D5B-BDB9-C2F1-2957-A8525BABF0FD}"/>
              </a:ext>
            </a:extLst>
          </p:cNvPr>
          <p:cNvSpPr/>
          <p:nvPr/>
        </p:nvSpPr>
        <p:spPr>
          <a:xfrm>
            <a:off x="8001000" y="2895600"/>
            <a:ext cx="3352800" cy="2030476"/>
          </a:xfrm>
          <a:prstGeom prst="roundRect">
            <a:avLst>
              <a:gd name="adj" fmla="val 6568"/>
            </a:avLst>
          </a:prstGeom>
          <a:solidFill>
            <a:srgbClr val="F2F6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256BE646-47DA-3AC4-0E2B-D09C46F03DB6}"/>
              </a:ext>
            </a:extLst>
          </p:cNvPr>
          <p:cNvSpPr/>
          <p:nvPr/>
        </p:nvSpPr>
        <p:spPr>
          <a:xfrm>
            <a:off x="8001000" y="2895600"/>
            <a:ext cx="3352800" cy="38100"/>
          </a:xfrm>
          <a:prstGeom prst="rect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6B79F422-7A08-50F1-C9B0-4831977D9866}"/>
              </a:ext>
            </a:extLst>
          </p:cNvPr>
          <p:cNvSpPr/>
          <p:nvPr/>
        </p:nvSpPr>
        <p:spPr>
          <a:xfrm>
            <a:off x="8248650" y="31623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618E08-B684-05EB-3911-C88607A361FA}"/>
              </a:ext>
            </a:extLst>
          </p:cNvPr>
          <p:cNvSpPr txBox="1">
            <a:spLocks/>
          </p:cNvSpPr>
          <p:nvPr/>
        </p:nvSpPr>
        <p:spPr>
          <a:xfrm>
            <a:off x="8235950" y="3248025"/>
            <a:ext cx="4064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3000"/>
              </a:lnSpc>
            </a:pPr>
            <a:r>
              <a:rPr lang="pt-BR" sz="1350" b="1">
                <a:solidFill>
                  <a:srgbClr val="FFFFFF"/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DBBD34A-103C-0685-8036-C508AC8055BF}"/>
              </a:ext>
            </a:extLst>
          </p:cNvPr>
          <p:cNvSpPr txBox="1">
            <a:spLocks/>
          </p:cNvSpPr>
          <p:nvPr/>
        </p:nvSpPr>
        <p:spPr>
          <a:xfrm>
            <a:off x="8248650" y="3676651"/>
            <a:ext cx="2900363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700"/>
              </a:lnSpc>
            </a:pPr>
            <a:r>
              <a:rPr lang="pt-BR" sz="1425" b="1">
                <a:solidFill>
                  <a:srgbClr val="1A1C3A"/>
                </a:solidFill>
                <a:latin typeface="Montserrat" panose="00000500000000000000" pitchFamily="2" charset="0"/>
              </a:rPr>
              <a:t>Resultado difícil de auditar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0B0CC05C-78EE-DFE9-96D1-A88AFDF75C79}"/>
              </a:ext>
            </a:extLst>
          </p:cNvPr>
          <p:cNvSpPr txBox="1">
            <a:spLocks/>
          </p:cNvSpPr>
          <p:nvPr/>
        </p:nvSpPr>
        <p:spPr>
          <a:xfrm>
            <a:off x="8248650" y="4011676"/>
            <a:ext cx="2900363" cy="6381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800"/>
              </a:lnSpc>
            </a:pPr>
            <a:r>
              <a:rPr lang="pt-BR" sz="1200">
                <a:solidFill>
                  <a:srgbClr val="5A6076"/>
                </a:solidFill>
                <a:latin typeface="Nobile"/>
              </a:rPr>
              <a:t>Um resumo sem página e trecho não permite que o especialista confira rapidamente a conclusão.</a:t>
            </a:r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23C86782-45FE-40EA-5883-AA4FFE0E82F9}"/>
              </a:ext>
            </a:extLst>
          </p:cNvPr>
          <p:cNvSpPr/>
          <p:nvPr/>
        </p:nvSpPr>
        <p:spPr>
          <a:xfrm>
            <a:off x="0" y="5448300"/>
            <a:ext cx="12192000" cy="1409700"/>
          </a:xfrm>
          <a:prstGeom prst="rect">
            <a:avLst/>
          </a:prstGeom>
          <a:solidFill>
            <a:srgbClr val="F2F6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16E318F2-F2A3-A942-E9C7-EBA9C46F8BD7}"/>
              </a:ext>
            </a:extLst>
          </p:cNvPr>
          <p:cNvSpPr/>
          <p:nvPr/>
        </p:nvSpPr>
        <p:spPr>
          <a:xfrm>
            <a:off x="2171700" y="5848350"/>
            <a:ext cx="9525" cy="419100"/>
          </a:xfrm>
          <a:prstGeom prst="rect">
            <a:avLst/>
          </a:prstGeom>
          <a:solidFill>
            <a:srgbClr val="5A6076">
              <a:alpha val="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009116D0-9875-817C-E246-9D31E864A9EB}"/>
              </a:ext>
            </a:extLst>
          </p:cNvPr>
          <p:cNvSpPr txBox="1">
            <a:spLocks/>
          </p:cNvSpPr>
          <p:nvPr/>
        </p:nvSpPr>
        <p:spPr>
          <a:xfrm>
            <a:off x="2495550" y="5993639"/>
            <a:ext cx="8991124" cy="1619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600"/>
              </a:lnSpc>
            </a:pPr>
            <a:r>
              <a:rPr lang="pt-BR" sz="1125">
                <a:solidFill>
                  <a:srgbClr val="5A6076"/>
                </a:solidFill>
                <a:latin typeface="Nobile"/>
              </a:rPr>
              <a:t>O objetivo não é retirar o especialista — é reduzir leitura repetitiva e aumentar rastreabilidade.</a:t>
            </a:r>
          </a:p>
        </p:txBody>
      </p:sp>
      <p:pic>
        <p:nvPicPr>
          <p:cNvPr id="31" name="Imagem 30">
            <a:extLst>
              <a:ext uri="{FF2B5EF4-FFF2-40B4-BE49-F238E27FC236}">
                <a16:creationId xmlns:a16="http://schemas.microsoft.com/office/drawing/2014/main" id="{F676491D-C128-830D-ED3B-C1FEB796D72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52973"/>
            <a:ext cx="1047750" cy="64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069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6F2ABB35-B1DF-D205-0CD1-B54313DE1EB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6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AD133DC-C069-2DA3-75DA-244942670713}"/>
              </a:ext>
            </a:extLst>
          </p:cNvPr>
          <p:cNvSpPr txBox="1">
            <a:spLocks/>
          </p:cNvSpPr>
          <p:nvPr/>
        </p:nvSpPr>
        <p:spPr>
          <a:xfrm>
            <a:off x="9491980" y="-714375"/>
            <a:ext cx="3069228" cy="30194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9500"/>
              </a:lnSpc>
            </a:pPr>
            <a:r>
              <a:rPr lang="pt-BR" sz="19500" b="1" spc="-390">
                <a:solidFill>
                  <a:srgbClr val="E1E5EB"/>
                </a:solidFill>
                <a:latin typeface="Montserrat" panose="00000500000000000000" pitchFamily="2" charset="0"/>
              </a:rPr>
              <a:t>03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8FD4552-302F-0F78-58EA-81294A8405A3}"/>
              </a:ext>
            </a:extLst>
          </p:cNvPr>
          <p:cNvSpPr/>
          <p:nvPr/>
        </p:nvSpPr>
        <p:spPr>
          <a:xfrm>
            <a:off x="838200" y="685800"/>
            <a:ext cx="266700" cy="28575"/>
          </a:xfrm>
          <a:prstGeom prst="rect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913D9E8-77EB-4791-EB11-A1513449537F}"/>
              </a:ext>
            </a:extLst>
          </p:cNvPr>
          <p:cNvSpPr txBox="1">
            <a:spLocks/>
          </p:cNvSpPr>
          <p:nvPr/>
        </p:nvSpPr>
        <p:spPr>
          <a:xfrm>
            <a:off x="838200" y="847726"/>
            <a:ext cx="6187440" cy="1428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300"/>
              </a:lnSpc>
            </a:pPr>
            <a:r>
              <a:rPr lang="pt-BR" sz="900" b="1" spc="198">
                <a:solidFill>
                  <a:srgbClr val="1A1C3A"/>
                </a:solidFill>
                <a:latin typeface="Montserrat" panose="00000500000000000000" pitchFamily="2" charset="0"/>
              </a:rPr>
              <a:t>PROPOSTA DE VALOR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92EF118-06A6-E05F-8665-5CB5205EFBCC}"/>
              </a:ext>
            </a:extLst>
          </p:cNvPr>
          <p:cNvSpPr txBox="1">
            <a:spLocks/>
          </p:cNvSpPr>
          <p:nvPr/>
        </p:nvSpPr>
        <p:spPr>
          <a:xfrm>
            <a:off x="838200" y="1141095"/>
            <a:ext cx="6187440" cy="90093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3400"/>
              </a:lnSpc>
            </a:pPr>
            <a:r>
              <a:rPr lang="pt-BR" sz="3000" b="1">
                <a:solidFill>
                  <a:srgbClr val="1A1C3A"/>
                </a:solidFill>
                <a:latin typeface="Montserrat" panose="00000500000000000000" pitchFamily="2" charset="0"/>
              </a:rPr>
              <a:t>Da leitura dispersa à</a:t>
            </a:r>
          </a:p>
          <a:p>
            <a:pPr>
              <a:lnSpc>
                <a:spcPts val="3400"/>
              </a:lnSpc>
            </a:pPr>
            <a:r>
              <a:rPr lang="pt-BR" sz="3000" b="1">
                <a:solidFill>
                  <a:srgbClr val="1A1C3A"/>
                </a:solidFill>
                <a:latin typeface="Montserrat" panose="00000500000000000000" pitchFamily="2" charset="0"/>
              </a:rPr>
              <a:t>comparação verificável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BB79233-33A2-C0C3-0739-580259D27158}"/>
              </a:ext>
            </a:extLst>
          </p:cNvPr>
          <p:cNvSpPr/>
          <p:nvPr/>
        </p:nvSpPr>
        <p:spPr>
          <a:xfrm>
            <a:off x="838200" y="2324100"/>
            <a:ext cx="10515600" cy="2366772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5ED1ADF-0E76-84C7-EEBF-D00665C6A1D4}"/>
              </a:ext>
            </a:extLst>
          </p:cNvPr>
          <p:cNvSpPr/>
          <p:nvPr/>
        </p:nvSpPr>
        <p:spPr>
          <a:xfrm>
            <a:off x="2162175" y="3152775"/>
            <a:ext cx="7867650" cy="19050"/>
          </a:xfrm>
          <a:prstGeom prst="rect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0D43B514-FFB7-684C-2191-DEFE72E1A932}"/>
              </a:ext>
            </a:extLst>
          </p:cNvPr>
          <p:cNvSpPr/>
          <p:nvPr/>
        </p:nvSpPr>
        <p:spPr>
          <a:xfrm>
            <a:off x="1409446" y="2857500"/>
            <a:ext cx="609600" cy="609600"/>
          </a:xfrm>
          <a:prstGeom prst="ellipse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67FD19A-9BBA-27CF-6A56-FF32F0704617}"/>
              </a:ext>
            </a:extLst>
          </p:cNvPr>
          <p:cNvSpPr txBox="1">
            <a:spLocks/>
          </p:cNvSpPr>
          <p:nvPr/>
        </p:nvSpPr>
        <p:spPr>
          <a:xfrm>
            <a:off x="1396746" y="3021331"/>
            <a:ext cx="635000" cy="2762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500"/>
              </a:lnSpc>
            </a:pPr>
            <a:r>
              <a:rPr lang="pt-BR" b="1">
                <a:solidFill>
                  <a:srgbClr val="FFFFFF"/>
                </a:solidFill>
                <a:latin typeface="Montserrat" panose="00000500000000000000" pitchFamily="2" charset="0"/>
              </a:rPr>
              <a:t>1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DCB49F4-6DD4-40AD-FCC5-27E9826FB200}"/>
              </a:ext>
            </a:extLst>
          </p:cNvPr>
          <p:cNvSpPr txBox="1">
            <a:spLocks/>
          </p:cNvSpPr>
          <p:nvPr/>
        </p:nvSpPr>
        <p:spPr>
          <a:xfrm>
            <a:off x="1400175" y="3695701"/>
            <a:ext cx="628396" cy="2000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000"/>
              </a:lnSpc>
            </a:pPr>
            <a:r>
              <a:rPr lang="pt-BR" sz="1425" b="1">
                <a:solidFill>
                  <a:srgbClr val="1A1C3A"/>
                </a:solidFill>
                <a:latin typeface="Nobile"/>
              </a:rPr>
              <a:t>Enviar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144F09F-487D-418A-85F8-FEC1324B292F}"/>
              </a:ext>
            </a:extLst>
          </p:cNvPr>
          <p:cNvSpPr txBox="1">
            <a:spLocks/>
          </p:cNvSpPr>
          <p:nvPr/>
        </p:nvSpPr>
        <p:spPr>
          <a:xfrm>
            <a:off x="1195188" y="4006088"/>
            <a:ext cx="103837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400"/>
              </a:lnSpc>
            </a:pPr>
            <a:r>
              <a:rPr lang="pt-BR" sz="1050">
                <a:solidFill>
                  <a:srgbClr val="5A6076"/>
                </a:solidFill>
                <a:latin typeface="Nobile"/>
              </a:rPr>
              <a:t>PDF ou imagem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8612501-C262-D030-D9BC-BC56BA350357}"/>
              </a:ext>
            </a:extLst>
          </p:cNvPr>
          <p:cNvSpPr/>
          <p:nvPr/>
        </p:nvSpPr>
        <p:spPr>
          <a:xfrm>
            <a:off x="3162046" y="2857500"/>
            <a:ext cx="609600" cy="609600"/>
          </a:xfrm>
          <a:prstGeom prst="ellipse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9FFAE1A-DF2F-3CB1-2AE4-950E2122C254}"/>
              </a:ext>
            </a:extLst>
          </p:cNvPr>
          <p:cNvSpPr txBox="1">
            <a:spLocks/>
          </p:cNvSpPr>
          <p:nvPr/>
        </p:nvSpPr>
        <p:spPr>
          <a:xfrm>
            <a:off x="3149346" y="3021331"/>
            <a:ext cx="635000" cy="2762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500"/>
              </a:lnSpc>
            </a:pPr>
            <a:r>
              <a:rPr lang="pt-BR" b="1">
                <a:solidFill>
                  <a:srgbClr val="FFFFFF"/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8B22C57-18A4-EABF-03DD-5CF5DB85C24A}"/>
              </a:ext>
            </a:extLst>
          </p:cNvPr>
          <p:cNvSpPr txBox="1">
            <a:spLocks/>
          </p:cNvSpPr>
          <p:nvPr/>
        </p:nvSpPr>
        <p:spPr>
          <a:xfrm>
            <a:off x="3134995" y="3695701"/>
            <a:ext cx="663829" cy="2000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000"/>
              </a:lnSpc>
            </a:pPr>
            <a:r>
              <a:rPr lang="pt-BR" sz="1425" b="1">
                <a:solidFill>
                  <a:srgbClr val="1A1C3A"/>
                </a:solidFill>
                <a:latin typeface="Nobile"/>
              </a:rPr>
              <a:t>Extrair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7127CCE-D874-8F7E-06F7-7D4FCE7A91E1}"/>
              </a:ext>
            </a:extLst>
          </p:cNvPr>
          <p:cNvSpPr txBox="1">
            <a:spLocks/>
          </p:cNvSpPr>
          <p:nvPr/>
        </p:nvSpPr>
        <p:spPr>
          <a:xfrm>
            <a:off x="3080512" y="4006088"/>
            <a:ext cx="772541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400"/>
              </a:lnSpc>
            </a:pPr>
            <a:r>
              <a:rPr lang="pt-BR" sz="1050">
                <a:solidFill>
                  <a:srgbClr val="5A6076"/>
                </a:solidFill>
                <a:latin typeface="Nobile"/>
              </a:rPr>
              <a:t>texto + OCR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9E99EF58-76C2-4317-99C9-B27171751D30}"/>
              </a:ext>
            </a:extLst>
          </p:cNvPr>
          <p:cNvSpPr/>
          <p:nvPr/>
        </p:nvSpPr>
        <p:spPr>
          <a:xfrm>
            <a:off x="4914392" y="2857500"/>
            <a:ext cx="609600" cy="609600"/>
          </a:xfrm>
          <a:prstGeom prst="ellipse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55584DAA-3C25-1228-88F9-254C2715FC69}"/>
              </a:ext>
            </a:extLst>
          </p:cNvPr>
          <p:cNvSpPr txBox="1">
            <a:spLocks/>
          </p:cNvSpPr>
          <p:nvPr/>
        </p:nvSpPr>
        <p:spPr>
          <a:xfrm>
            <a:off x="4901692" y="3021331"/>
            <a:ext cx="635000" cy="2762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500"/>
              </a:lnSpc>
            </a:pPr>
            <a:r>
              <a:rPr lang="pt-BR" b="1">
                <a:solidFill>
                  <a:srgbClr val="FFFFFF"/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D643FA0-8652-63EF-7F9B-BB32C21CC4C2}"/>
              </a:ext>
            </a:extLst>
          </p:cNvPr>
          <p:cNvSpPr txBox="1">
            <a:spLocks/>
          </p:cNvSpPr>
          <p:nvPr/>
        </p:nvSpPr>
        <p:spPr>
          <a:xfrm>
            <a:off x="4718450" y="3695701"/>
            <a:ext cx="1001612" cy="2000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000"/>
              </a:lnSpc>
            </a:pPr>
            <a:r>
              <a:rPr lang="pt-BR" sz="1425" b="1">
                <a:solidFill>
                  <a:srgbClr val="1A1C3A"/>
                </a:solidFill>
                <a:latin typeface="Nobile"/>
              </a:rPr>
              <a:t>Estruturar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1E9D740B-2378-A021-2663-97E84024BA5F}"/>
              </a:ext>
            </a:extLst>
          </p:cNvPr>
          <p:cNvSpPr txBox="1">
            <a:spLocks/>
          </p:cNvSpPr>
          <p:nvPr/>
        </p:nvSpPr>
        <p:spPr>
          <a:xfrm>
            <a:off x="4684173" y="4006088"/>
            <a:ext cx="1070418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400"/>
              </a:lnSpc>
            </a:pPr>
            <a:r>
              <a:rPr lang="pt-BR" sz="1050">
                <a:solidFill>
                  <a:srgbClr val="5A6076"/>
                </a:solidFill>
                <a:latin typeface="Nobile"/>
              </a:rPr>
              <a:t>26 critérios D&amp;O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CC9F4D66-7F91-FD9F-7BCC-E0C4BEF980BC}"/>
              </a:ext>
            </a:extLst>
          </p:cNvPr>
          <p:cNvSpPr/>
          <p:nvPr/>
        </p:nvSpPr>
        <p:spPr>
          <a:xfrm>
            <a:off x="6666992" y="2857500"/>
            <a:ext cx="609600" cy="609600"/>
          </a:xfrm>
          <a:prstGeom prst="ellipse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024F584F-2B4B-9013-E2D6-32B35D1D7401}"/>
              </a:ext>
            </a:extLst>
          </p:cNvPr>
          <p:cNvSpPr txBox="1">
            <a:spLocks/>
          </p:cNvSpPr>
          <p:nvPr/>
        </p:nvSpPr>
        <p:spPr>
          <a:xfrm>
            <a:off x="6654292" y="3021331"/>
            <a:ext cx="635000" cy="2762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500"/>
              </a:lnSpc>
            </a:pPr>
            <a:r>
              <a:rPr lang="pt-BR" b="1">
                <a:solidFill>
                  <a:srgbClr val="FFFFFF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6323BFBE-F982-E13B-09A6-FCB749CC72BF}"/>
              </a:ext>
            </a:extLst>
          </p:cNvPr>
          <p:cNvSpPr txBox="1">
            <a:spLocks/>
          </p:cNvSpPr>
          <p:nvPr/>
        </p:nvSpPr>
        <p:spPr>
          <a:xfrm>
            <a:off x="6623685" y="3695701"/>
            <a:ext cx="696087" cy="2000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000"/>
              </a:lnSpc>
            </a:pPr>
            <a:r>
              <a:rPr lang="pt-BR" sz="1425" b="1">
                <a:solidFill>
                  <a:srgbClr val="1A1C3A"/>
                </a:solidFill>
                <a:latin typeface="Nobile"/>
              </a:rPr>
              <a:t>Validar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71869EC7-E1BA-E66B-2761-92A5F5E6EBB3}"/>
              </a:ext>
            </a:extLst>
          </p:cNvPr>
          <p:cNvSpPr txBox="1">
            <a:spLocks/>
          </p:cNvSpPr>
          <p:nvPr/>
        </p:nvSpPr>
        <p:spPr>
          <a:xfrm>
            <a:off x="6464641" y="4006088"/>
            <a:ext cx="1014301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400"/>
              </a:lnSpc>
            </a:pPr>
            <a:r>
              <a:rPr lang="pt-BR" sz="1050">
                <a:solidFill>
                  <a:srgbClr val="5A6076"/>
                </a:solidFill>
                <a:latin typeface="Nobile"/>
              </a:rPr>
              <a:t>página + trecho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10872E4F-1344-DE76-04DF-F4DE560BA3DF}"/>
              </a:ext>
            </a:extLst>
          </p:cNvPr>
          <p:cNvSpPr/>
          <p:nvPr/>
        </p:nvSpPr>
        <p:spPr>
          <a:xfrm>
            <a:off x="8419338" y="2857500"/>
            <a:ext cx="609600" cy="609600"/>
          </a:xfrm>
          <a:prstGeom prst="ellipse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BD158797-431A-F4F5-20CD-D464432C4C00}"/>
              </a:ext>
            </a:extLst>
          </p:cNvPr>
          <p:cNvSpPr txBox="1">
            <a:spLocks/>
          </p:cNvSpPr>
          <p:nvPr/>
        </p:nvSpPr>
        <p:spPr>
          <a:xfrm>
            <a:off x="8406638" y="3021331"/>
            <a:ext cx="635000" cy="2762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500"/>
              </a:lnSpc>
            </a:pPr>
            <a:r>
              <a:rPr lang="pt-BR" b="1">
                <a:solidFill>
                  <a:srgbClr val="FFFFFF"/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0F00D5B9-4D53-CE42-02A7-08948D53A69C}"/>
              </a:ext>
            </a:extLst>
          </p:cNvPr>
          <p:cNvSpPr txBox="1">
            <a:spLocks/>
          </p:cNvSpPr>
          <p:nvPr/>
        </p:nvSpPr>
        <p:spPr>
          <a:xfrm>
            <a:off x="8251781" y="3695701"/>
            <a:ext cx="944841" cy="2000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000"/>
              </a:lnSpc>
            </a:pPr>
            <a:r>
              <a:rPr lang="pt-BR" sz="1425" b="1">
                <a:solidFill>
                  <a:srgbClr val="1A1C3A"/>
                </a:solidFill>
                <a:latin typeface="Nobile"/>
              </a:rPr>
              <a:t>Comparar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086B9F2A-69E3-B628-55A4-1B2381CFA923}"/>
              </a:ext>
            </a:extLst>
          </p:cNvPr>
          <p:cNvSpPr txBox="1">
            <a:spLocks/>
          </p:cNvSpPr>
          <p:nvPr/>
        </p:nvSpPr>
        <p:spPr>
          <a:xfrm>
            <a:off x="8170023" y="4006088"/>
            <a:ext cx="1108484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400"/>
              </a:lnSpc>
            </a:pPr>
            <a:r>
              <a:rPr lang="pt-BR" sz="1050">
                <a:solidFill>
                  <a:srgbClr val="5A6076"/>
                </a:solidFill>
                <a:latin typeface="Nobile"/>
              </a:rPr>
              <a:t>matriz e atenção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B4E9F2B1-D3A8-EAB2-5844-2303FF4FFC3C}"/>
              </a:ext>
            </a:extLst>
          </p:cNvPr>
          <p:cNvSpPr/>
          <p:nvPr/>
        </p:nvSpPr>
        <p:spPr>
          <a:xfrm>
            <a:off x="10171811" y="2857500"/>
            <a:ext cx="609600" cy="609600"/>
          </a:xfrm>
          <a:prstGeom prst="ellipse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0E018A84-0FCF-7152-E211-E0CF918639E1}"/>
              </a:ext>
            </a:extLst>
          </p:cNvPr>
          <p:cNvSpPr txBox="1">
            <a:spLocks/>
          </p:cNvSpPr>
          <p:nvPr/>
        </p:nvSpPr>
        <p:spPr>
          <a:xfrm>
            <a:off x="10159111" y="3021331"/>
            <a:ext cx="635000" cy="2762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500"/>
              </a:lnSpc>
            </a:pPr>
            <a:r>
              <a:rPr lang="pt-BR" b="1">
                <a:solidFill>
                  <a:srgbClr val="FFFFFF"/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2A7A4AA4-1843-9B78-B7E8-62D8A56B9D6A}"/>
              </a:ext>
            </a:extLst>
          </p:cNvPr>
          <p:cNvSpPr txBox="1">
            <a:spLocks/>
          </p:cNvSpPr>
          <p:nvPr/>
        </p:nvSpPr>
        <p:spPr>
          <a:xfrm>
            <a:off x="10003342" y="3695701"/>
            <a:ext cx="946410" cy="2000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000"/>
              </a:lnSpc>
            </a:pPr>
            <a:r>
              <a:rPr lang="pt-BR" sz="1425" b="1">
                <a:solidFill>
                  <a:srgbClr val="1A1C3A"/>
                </a:solidFill>
                <a:latin typeface="Nobile"/>
              </a:rPr>
              <a:t>Consultar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23861538-8BA2-2996-DA52-5C76A73BE912}"/>
              </a:ext>
            </a:extLst>
          </p:cNvPr>
          <p:cNvSpPr txBox="1">
            <a:spLocks/>
          </p:cNvSpPr>
          <p:nvPr/>
        </p:nvSpPr>
        <p:spPr>
          <a:xfrm>
            <a:off x="9696462" y="4006088"/>
            <a:ext cx="1560171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400"/>
              </a:lnSpc>
            </a:pPr>
            <a:r>
              <a:rPr lang="pt-BR" sz="1050">
                <a:solidFill>
                  <a:srgbClr val="5A6076"/>
                </a:solidFill>
                <a:latin typeface="Nobile"/>
              </a:rPr>
              <a:t>copiloto fundamentado</a:t>
            </a:r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3FE512FD-704F-C855-5759-9016ED1EDB3D}"/>
              </a:ext>
            </a:extLst>
          </p:cNvPr>
          <p:cNvSpPr/>
          <p:nvPr/>
        </p:nvSpPr>
        <p:spPr>
          <a:xfrm>
            <a:off x="0" y="4705350"/>
            <a:ext cx="12192000" cy="719201"/>
          </a:xfrm>
          <a:prstGeom prst="rect">
            <a:avLst/>
          </a:prstGeom>
          <a:solidFill>
            <a:srgbClr val="1A1C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ED64EEEF-F351-FE19-8147-EA943EE39B9A}"/>
              </a:ext>
            </a:extLst>
          </p:cNvPr>
          <p:cNvSpPr txBox="1">
            <a:spLocks/>
          </p:cNvSpPr>
          <p:nvPr/>
        </p:nvSpPr>
        <p:spPr>
          <a:xfrm>
            <a:off x="838200" y="4972051"/>
            <a:ext cx="10673334" cy="1809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900"/>
              </a:lnSpc>
            </a:pPr>
            <a:r>
              <a:rPr lang="pt-BR" sz="1275" b="1">
                <a:solidFill>
                  <a:srgbClr val="FFFFFF"/>
                </a:solidFill>
                <a:latin typeface="Nobile"/>
              </a:rPr>
              <a:t>Diferencial:</a:t>
            </a:r>
            <a:r>
              <a:rPr lang="pt-BR" sz="1275">
                <a:solidFill>
                  <a:srgbClr val="FFFFFF"/>
                </a:solidFill>
                <a:latin typeface="Nobile"/>
              </a:rPr>
              <a:t> um dado sem evidência verificável não entra na base.</a:t>
            </a:r>
          </a:p>
        </p:txBody>
      </p:sp>
      <p:pic>
        <p:nvPicPr>
          <p:cNvPr id="36" name="Imagem 35">
            <a:extLst>
              <a:ext uri="{FF2B5EF4-FFF2-40B4-BE49-F238E27FC236}">
                <a16:creationId xmlns:a16="http://schemas.microsoft.com/office/drawing/2014/main" id="{31F474C5-AD1F-CFF4-0DB4-B62D31EC4F9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52973"/>
            <a:ext cx="1047750" cy="64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674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A6A61E2-E1F8-A279-41D1-996C3F699A5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2ABFD93-2819-53C6-A5C9-4A6190346950}"/>
              </a:ext>
            </a:extLst>
          </p:cNvPr>
          <p:cNvSpPr/>
          <p:nvPr/>
        </p:nvSpPr>
        <p:spPr>
          <a:xfrm>
            <a:off x="0" y="2057400"/>
            <a:ext cx="12192000" cy="3581400"/>
          </a:xfrm>
          <a:prstGeom prst="rect">
            <a:avLst/>
          </a:prstGeom>
          <a:solidFill>
            <a:srgbClr val="F2F6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CF4C388-2AC8-6CBA-F8C6-721118149EC6}"/>
              </a:ext>
            </a:extLst>
          </p:cNvPr>
          <p:cNvSpPr txBox="1">
            <a:spLocks/>
          </p:cNvSpPr>
          <p:nvPr/>
        </p:nvSpPr>
        <p:spPr>
          <a:xfrm>
            <a:off x="9285097" y="-781050"/>
            <a:ext cx="3221207" cy="31337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20200"/>
              </a:lnSpc>
            </a:pPr>
            <a:r>
              <a:rPr lang="pt-BR" sz="20250" b="1" spc="-405">
                <a:solidFill>
                  <a:srgbClr val="EDEDEF"/>
                </a:solidFill>
                <a:latin typeface="Montserrat" panose="00000500000000000000" pitchFamily="2" charset="0"/>
              </a:rPr>
              <a:t>05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D9CDB88-B34F-0129-F5B0-8760A0BDE077}"/>
              </a:ext>
            </a:extLst>
          </p:cNvPr>
          <p:cNvSpPr/>
          <p:nvPr/>
        </p:nvSpPr>
        <p:spPr>
          <a:xfrm>
            <a:off x="838200" y="685800"/>
            <a:ext cx="266700" cy="28575"/>
          </a:xfrm>
          <a:prstGeom prst="rect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870598B-673D-EE5B-1710-C2AB1D00E585}"/>
              </a:ext>
            </a:extLst>
          </p:cNvPr>
          <p:cNvSpPr txBox="1">
            <a:spLocks/>
          </p:cNvSpPr>
          <p:nvPr/>
        </p:nvSpPr>
        <p:spPr>
          <a:xfrm>
            <a:off x="838200" y="885825"/>
            <a:ext cx="7927657" cy="4667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3200"/>
              </a:lnSpc>
            </a:pPr>
            <a:r>
              <a:rPr lang="pt-BR" sz="3000" b="1" spc="120">
                <a:solidFill>
                  <a:srgbClr val="1A1C3A"/>
                </a:solidFill>
                <a:latin typeface="Montserrat" panose="00000500000000000000" pitchFamily="2" charset="0"/>
              </a:rPr>
              <a:t>ORQUESTRAÇÃO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CC0AEF4-B0FE-3D3E-B889-6E14E71A26FD}"/>
              </a:ext>
            </a:extLst>
          </p:cNvPr>
          <p:cNvSpPr txBox="1">
            <a:spLocks/>
          </p:cNvSpPr>
          <p:nvPr/>
        </p:nvSpPr>
        <p:spPr>
          <a:xfrm>
            <a:off x="838200" y="1495425"/>
            <a:ext cx="7927657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2200"/>
              </a:lnSpc>
            </a:pPr>
            <a:r>
              <a:rPr lang="pt-BR" sz="1575">
                <a:solidFill>
                  <a:srgbClr val="5A6076"/>
                </a:solidFill>
                <a:latin typeface="Nobile"/>
              </a:rPr>
              <a:t>Agentes pequenos, especializados e testáveis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C638710-E3C1-A513-BEDE-59E94CA07B88}"/>
              </a:ext>
            </a:extLst>
          </p:cNvPr>
          <p:cNvSpPr/>
          <p:nvPr/>
        </p:nvSpPr>
        <p:spPr>
          <a:xfrm>
            <a:off x="6076950" y="2400300"/>
            <a:ext cx="9525" cy="2895600"/>
          </a:xfrm>
          <a:prstGeom prst="rect">
            <a:avLst/>
          </a:prstGeom>
          <a:solidFill>
            <a:srgbClr val="5A6076">
              <a:alpha val="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6A91E47-B4E1-1FB4-06A2-BCE9E52979B1}"/>
              </a:ext>
            </a:extLst>
          </p:cNvPr>
          <p:cNvSpPr/>
          <p:nvPr/>
        </p:nvSpPr>
        <p:spPr>
          <a:xfrm>
            <a:off x="838200" y="243840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A0E289B-6599-4FED-D908-4D98057534B2}"/>
              </a:ext>
            </a:extLst>
          </p:cNvPr>
          <p:cNvSpPr txBox="1">
            <a:spLocks/>
          </p:cNvSpPr>
          <p:nvPr/>
        </p:nvSpPr>
        <p:spPr>
          <a:xfrm>
            <a:off x="825500" y="2550795"/>
            <a:ext cx="55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700"/>
              </a:lnSpc>
            </a:pPr>
            <a:r>
              <a:rPr lang="pt-BR" sz="1950" b="1">
                <a:solidFill>
                  <a:srgbClr val="FFFFFF"/>
                </a:solidFill>
                <a:latin typeface="Montserrat" panose="00000500000000000000" pitchFamily="2" charset="0"/>
              </a:rPr>
              <a:t>1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11F24106-ED62-510D-1C94-8C323D3065B0}"/>
              </a:ext>
            </a:extLst>
          </p:cNvPr>
          <p:cNvSpPr txBox="1">
            <a:spLocks/>
          </p:cNvSpPr>
          <p:nvPr/>
        </p:nvSpPr>
        <p:spPr>
          <a:xfrm>
            <a:off x="1562100" y="2457451"/>
            <a:ext cx="3159590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800"/>
              </a:lnSpc>
            </a:pPr>
            <a:r>
              <a:rPr lang="pt-BR" sz="1500" b="1">
                <a:solidFill>
                  <a:srgbClr val="1A1C3A"/>
                </a:solidFill>
                <a:latin typeface="Nobile"/>
              </a:rPr>
              <a:t>Leitor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6F61998-28B0-6903-A147-FEAD6682C57C}"/>
              </a:ext>
            </a:extLst>
          </p:cNvPr>
          <p:cNvSpPr txBox="1">
            <a:spLocks/>
          </p:cNvSpPr>
          <p:nvPr/>
        </p:nvSpPr>
        <p:spPr>
          <a:xfrm>
            <a:off x="1562100" y="2771776"/>
            <a:ext cx="3159590" cy="1809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700"/>
              </a:lnSpc>
            </a:pPr>
            <a:r>
              <a:rPr lang="pt-BR" sz="1200">
                <a:solidFill>
                  <a:srgbClr val="5A6076"/>
                </a:solidFill>
                <a:latin typeface="Nobile"/>
              </a:rPr>
              <a:t>Valida arquivo e preserva texto por página.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50EB4C6B-8296-F7D0-A315-AC2D4B2D7729}"/>
              </a:ext>
            </a:extLst>
          </p:cNvPr>
          <p:cNvSpPr/>
          <p:nvPr/>
        </p:nvSpPr>
        <p:spPr>
          <a:xfrm>
            <a:off x="6400800" y="243840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CC516D9-DE54-37B5-787B-6957D3DDFBE3}"/>
              </a:ext>
            </a:extLst>
          </p:cNvPr>
          <p:cNvSpPr txBox="1">
            <a:spLocks/>
          </p:cNvSpPr>
          <p:nvPr/>
        </p:nvSpPr>
        <p:spPr>
          <a:xfrm>
            <a:off x="6388100" y="2550795"/>
            <a:ext cx="55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700"/>
              </a:lnSpc>
            </a:pPr>
            <a:r>
              <a:rPr lang="pt-BR" sz="1950" b="1">
                <a:solidFill>
                  <a:srgbClr val="FFFFFF"/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03240895-AE3D-6A3F-3048-A43501C98628}"/>
              </a:ext>
            </a:extLst>
          </p:cNvPr>
          <p:cNvSpPr txBox="1">
            <a:spLocks/>
          </p:cNvSpPr>
          <p:nvPr/>
        </p:nvSpPr>
        <p:spPr>
          <a:xfrm>
            <a:off x="7124700" y="2457451"/>
            <a:ext cx="2918667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800"/>
              </a:lnSpc>
            </a:pPr>
            <a:r>
              <a:rPr lang="pt-BR" sz="1500" b="1">
                <a:solidFill>
                  <a:srgbClr val="1A1C3A"/>
                </a:solidFill>
                <a:latin typeface="Nobile"/>
              </a:rPr>
              <a:t>Extrator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E709AF6-A719-68E0-C7BA-C8AD6E350642}"/>
              </a:ext>
            </a:extLst>
          </p:cNvPr>
          <p:cNvSpPr txBox="1">
            <a:spLocks/>
          </p:cNvSpPr>
          <p:nvPr/>
        </p:nvSpPr>
        <p:spPr>
          <a:xfrm>
            <a:off x="7124700" y="2771776"/>
            <a:ext cx="2918667" cy="1809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700"/>
              </a:lnSpc>
            </a:pPr>
            <a:r>
              <a:rPr lang="pt-BR" sz="1200">
                <a:solidFill>
                  <a:srgbClr val="5A6076"/>
                </a:solidFill>
                <a:latin typeface="Nobile"/>
              </a:rPr>
              <a:t>Mapeia cláusulas à taxonomia fechada.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9B900B3E-E6E2-7C08-7326-553254D317DB}"/>
              </a:ext>
            </a:extLst>
          </p:cNvPr>
          <p:cNvSpPr/>
          <p:nvPr/>
        </p:nvSpPr>
        <p:spPr>
          <a:xfrm>
            <a:off x="838200" y="348615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AF8AFE0-7A26-A149-863B-AE341BDFBEA6}"/>
              </a:ext>
            </a:extLst>
          </p:cNvPr>
          <p:cNvSpPr txBox="1">
            <a:spLocks/>
          </p:cNvSpPr>
          <p:nvPr/>
        </p:nvSpPr>
        <p:spPr>
          <a:xfrm>
            <a:off x="825500" y="3598545"/>
            <a:ext cx="55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700"/>
              </a:lnSpc>
            </a:pPr>
            <a:r>
              <a:rPr lang="pt-BR" sz="1950" b="1">
                <a:solidFill>
                  <a:srgbClr val="FFFFFF"/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A0C62DA-AD92-3375-584D-E737824DE73D}"/>
              </a:ext>
            </a:extLst>
          </p:cNvPr>
          <p:cNvSpPr txBox="1">
            <a:spLocks/>
          </p:cNvSpPr>
          <p:nvPr/>
        </p:nvSpPr>
        <p:spPr>
          <a:xfrm>
            <a:off x="1562100" y="3505201"/>
            <a:ext cx="3092431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800"/>
              </a:lnSpc>
            </a:pPr>
            <a:r>
              <a:rPr lang="pt-BR" sz="1500" b="1">
                <a:solidFill>
                  <a:srgbClr val="1A1C3A"/>
                </a:solidFill>
                <a:latin typeface="Nobile"/>
              </a:rPr>
              <a:t>Auditor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78FE6B7-6E18-D593-2933-9B94162C60E4}"/>
              </a:ext>
            </a:extLst>
          </p:cNvPr>
          <p:cNvSpPr txBox="1">
            <a:spLocks/>
          </p:cNvSpPr>
          <p:nvPr/>
        </p:nvSpPr>
        <p:spPr>
          <a:xfrm>
            <a:off x="1562100" y="3819526"/>
            <a:ext cx="3092431" cy="1809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700"/>
              </a:lnSpc>
            </a:pPr>
            <a:r>
              <a:rPr lang="pt-BR" sz="1200">
                <a:solidFill>
                  <a:srgbClr val="5A6076"/>
                </a:solidFill>
                <a:latin typeface="Nobile"/>
              </a:rPr>
              <a:t>Rejeita página ou trecho não confirmável.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2E572E48-4F01-2254-CFB7-558795EF8C35}"/>
              </a:ext>
            </a:extLst>
          </p:cNvPr>
          <p:cNvSpPr/>
          <p:nvPr/>
        </p:nvSpPr>
        <p:spPr>
          <a:xfrm>
            <a:off x="6400800" y="348615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097CD33A-CFFA-F2C5-C1D2-CA96B3C96DA0}"/>
              </a:ext>
            </a:extLst>
          </p:cNvPr>
          <p:cNvSpPr txBox="1">
            <a:spLocks/>
          </p:cNvSpPr>
          <p:nvPr/>
        </p:nvSpPr>
        <p:spPr>
          <a:xfrm>
            <a:off x="6388100" y="3598545"/>
            <a:ext cx="55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700"/>
              </a:lnSpc>
            </a:pPr>
            <a:r>
              <a:rPr lang="pt-BR" sz="1950" b="1">
                <a:solidFill>
                  <a:srgbClr val="FFFFFF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B9BF84F2-8D52-C856-14B7-8792761AABCB}"/>
              </a:ext>
            </a:extLst>
          </p:cNvPr>
          <p:cNvSpPr txBox="1">
            <a:spLocks/>
          </p:cNvSpPr>
          <p:nvPr/>
        </p:nvSpPr>
        <p:spPr>
          <a:xfrm>
            <a:off x="7124700" y="3505201"/>
            <a:ext cx="3075673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800"/>
              </a:lnSpc>
            </a:pPr>
            <a:r>
              <a:rPr lang="pt-BR" sz="1500" b="1">
                <a:solidFill>
                  <a:srgbClr val="1A1C3A"/>
                </a:solidFill>
                <a:latin typeface="Nobile"/>
              </a:rPr>
              <a:t>Comparador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292D8591-D5CA-8B94-8016-89FD33E57C2E}"/>
              </a:ext>
            </a:extLst>
          </p:cNvPr>
          <p:cNvSpPr txBox="1">
            <a:spLocks/>
          </p:cNvSpPr>
          <p:nvPr/>
        </p:nvSpPr>
        <p:spPr>
          <a:xfrm>
            <a:off x="7124700" y="3819526"/>
            <a:ext cx="3075673" cy="1809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700"/>
              </a:lnSpc>
            </a:pPr>
            <a:r>
              <a:rPr lang="pt-BR" sz="1200">
                <a:solidFill>
                  <a:srgbClr val="5A6076"/>
                </a:solidFill>
                <a:latin typeface="Nobile"/>
              </a:rPr>
              <a:t>Confronta valores e interpreta diferenças.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C9FA5463-1E1A-AD12-0029-BEB1ED5C6043}"/>
              </a:ext>
            </a:extLst>
          </p:cNvPr>
          <p:cNvSpPr/>
          <p:nvPr/>
        </p:nvSpPr>
        <p:spPr>
          <a:xfrm>
            <a:off x="838200" y="453390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B7C37FC-3E60-8A1F-2C4D-BB589354CFDF}"/>
              </a:ext>
            </a:extLst>
          </p:cNvPr>
          <p:cNvSpPr txBox="1">
            <a:spLocks/>
          </p:cNvSpPr>
          <p:nvPr/>
        </p:nvSpPr>
        <p:spPr>
          <a:xfrm>
            <a:off x="825500" y="4646295"/>
            <a:ext cx="55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700"/>
              </a:lnSpc>
            </a:pPr>
            <a:r>
              <a:rPr lang="pt-BR" sz="1950" b="1">
                <a:solidFill>
                  <a:srgbClr val="FFFFFF"/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6EF059D-2B38-B2F7-F055-8E3726FCF49B}"/>
              </a:ext>
            </a:extLst>
          </p:cNvPr>
          <p:cNvSpPr txBox="1">
            <a:spLocks/>
          </p:cNvSpPr>
          <p:nvPr/>
        </p:nvSpPr>
        <p:spPr>
          <a:xfrm>
            <a:off x="1562100" y="4552951"/>
            <a:ext cx="2447777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800"/>
              </a:lnSpc>
            </a:pPr>
            <a:r>
              <a:rPr lang="pt-BR" sz="1500" b="1">
                <a:solidFill>
                  <a:srgbClr val="1A1C3A"/>
                </a:solidFill>
                <a:latin typeface="Nobile"/>
              </a:rPr>
              <a:t>Relator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A4C8A576-D091-11CD-2C67-4495410965C6}"/>
              </a:ext>
            </a:extLst>
          </p:cNvPr>
          <p:cNvSpPr txBox="1">
            <a:spLocks/>
          </p:cNvSpPr>
          <p:nvPr/>
        </p:nvSpPr>
        <p:spPr>
          <a:xfrm>
            <a:off x="1562100" y="4867276"/>
            <a:ext cx="2447777" cy="1809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700"/>
              </a:lnSpc>
            </a:pPr>
            <a:r>
              <a:rPr lang="pt-BR" sz="1200">
                <a:solidFill>
                  <a:srgbClr val="5A6076"/>
                </a:solidFill>
                <a:latin typeface="Nobile"/>
              </a:rPr>
              <a:t>Gera PDF, CSV e JSON auditáveis.</a:t>
            </a:r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F704C978-C716-2E14-E6EA-93B974EEC0AA}"/>
              </a:ext>
            </a:extLst>
          </p:cNvPr>
          <p:cNvSpPr/>
          <p:nvPr/>
        </p:nvSpPr>
        <p:spPr>
          <a:xfrm>
            <a:off x="6400800" y="453390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310CBBB-54D1-E8D5-3A40-0BF0F2AD3FCE}"/>
              </a:ext>
            </a:extLst>
          </p:cNvPr>
          <p:cNvSpPr txBox="1">
            <a:spLocks/>
          </p:cNvSpPr>
          <p:nvPr/>
        </p:nvSpPr>
        <p:spPr>
          <a:xfrm>
            <a:off x="6388100" y="4646295"/>
            <a:ext cx="55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700"/>
              </a:lnSpc>
            </a:pPr>
            <a:r>
              <a:rPr lang="pt-BR" sz="1950" b="1">
                <a:solidFill>
                  <a:srgbClr val="FFFFFF"/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9339CD40-5473-92D9-F2D7-9E22975859C2}"/>
              </a:ext>
            </a:extLst>
          </p:cNvPr>
          <p:cNvSpPr txBox="1">
            <a:spLocks/>
          </p:cNvSpPr>
          <p:nvPr/>
        </p:nvSpPr>
        <p:spPr>
          <a:xfrm>
            <a:off x="7124700" y="4552951"/>
            <a:ext cx="3409795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800"/>
              </a:lnSpc>
            </a:pPr>
            <a:r>
              <a:rPr lang="pt-BR" sz="1500" b="1">
                <a:solidFill>
                  <a:srgbClr val="1A1C3A"/>
                </a:solidFill>
                <a:latin typeface="Nobile"/>
              </a:rPr>
              <a:t>Copiloto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ADAA7F68-C2C9-6677-2F6E-D03B234B3CE4}"/>
              </a:ext>
            </a:extLst>
          </p:cNvPr>
          <p:cNvSpPr txBox="1">
            <a:spLocks/>
          </p:cNvSpPr>
          <p:nvPr/>
        </p:nvSpPr>
        <p:spPr>
          <a:xfrm>
            <a:off x="7124700" y="4867276"/>
            <a:ext cx="3409795" cy="1809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1700"/>
              </a:lnSpc>
            </a:pPr>
            <a:r>
              <a:rPr lang="pt-BR" sz="1200">
                <a:solidFill>
                  <a:srgbClr val="5A6076"/>
                </a:solidFill>
                <a:latin typeface="Nobile"/>
              </a:rPr>
              <a:t>Responde somente com contexto recuperado.</a:t>
            </a:r>
          </a:p>
        </p:txBody>
      </p:sp>
      <p:pic>
        <p:nvPicPr>
          <p:cNvPr id="34" name="Imagem 33">
            <a:extLst>
              <a:ext uri="{FF2B5EF4-FFF2-40B4-BE49-F238E27FC236}">
                <a16:creationId xmlns:a16="http://schemas.microsoft.com/office/drawing/2014/main" id="{9ED28A4F-D579-0E8F-9A33-8A57EA513ED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52973"/>
            <a:ext cx="1047750" cy="64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468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FE6DBF8-E18B-946A-2AAC-0A6C87EEEB6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A1C3A"/>
              </a:gs>
              <a:gs pos="100000">
                <a:srgbClr val="0E0F24"/>
              </a:gs>
            </a:gsLst>
            <a:lin ang="4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8FC010F-B65A-A490-88F6-F049B79543EA}"/>
              </a:ext>
            </a:extLst>
          </p:cNvPr>
          <p:cNvSpPr txBox="1">
            <a:spLocks/>
          </p:cNvSpPr>
          <p:nvPr/>
        </p:nvSpPr>
        <p:spPr>
          <a:xfrm>
            <a:off x="9112758" y="1038225"/>
            <a:ext cx="3454138" cy="324802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ts val="21000"/>
              </a:lnSpc>
            </a:pPr>
            <a:r>
              <a:rPr lang="pt-BR" sz="21000" b="1" spc="-420">
                <a:solidFill>
                  <a:srgbClr val="272940"/>
                </a:solidFill>
                <a:latin typeface="Montserrat" panose="00000500000000000000" pitchFamily="2" charset="0"/>
              </a:rPr>
              <a:t>09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52C5EB-7077-882C-A6A3-9427E2942906}"/>
              </a:ext>
            </a:extLst>
          </p:cNvPr>
          <p:cNvSpPr/>
          <p:nvPr/>
        </p:nvSpPr>
        <p:spPr>
          <a:xfrm>
            <a:off x="5962650" y="876300"/>
            <a:ext cx="266700" cy="28575"/>
          </a:xfrm>
          <a:prstGeom prst="rect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69D2ED-9ED0-4D2F-52E4-BEF7E25D6C4B}"/>
              </a:ext>
            </a:extLst>
          </p:cNvPr>
          <p:cNvSpPr txBox="1">
            <a:spLocks/>
          </p:cNvSpPr>
          <p:nvPr/>
        </p:nvSpPr>
        <p:spPr>
          <a:xfrm>
            <a:off x="680466" y="1038226"/>
            <a:ext cx="10831068" cy="14287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300"/>
              </a:lnSpc>
            </a:pPr>
            <a:r>
              <a:rPr lang="pt-BR" sz="900" b="1" spc="198">
                <a:solidFill>
                  <a:srgbClr val="FFFFFF"/>
                </a:solidFill>
                <a:latin typeface="Montserrat" panose="00000500000000000000" pitchFamily="2" charset="0"/>
              </a:rPr>
              <a:t>ENCERRAMENTO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1948C81-063C-3D09-0D75-9E37494771B0}"/>
              </a:ext>
            </a:extLst>
          </p:cNvPr>
          <p:cNvSpPr/>
          <p:nvPr/>
        </p:nvSpPr>
        <p:spPr>
          <a:xfrm>
            <a:off x="5753100" y="1636395"/>
            <a:ext cx="685800" cy="28575"/>
          </a:xfrm>
          <a:prstGeom prst="rect">
            <a:avLst/>
          </a:prstGeom>
          <a:solidFill>
            <a:srgbClr val="2EB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351C0BB-CECD-E895-E517-E2C64B051B69}"/>
              </a:ext>
            </a:extLst>
          </p:cNvPr>
          <p:cNvSpPr txBox="1">
            <a:spLocks/>
          </p:cNvSpPr>
          <p:nvPr/>
        </p:nvSpPr>
        <p:spPr>
          <a:xfrm>
            <a:off x="1681163" y="1922145"/>
            <a:ext cx="8829675" cy="104241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3900"/>
              </a:lnSpc>
            </a:pPr>
            <a:r>
              <a:rPr lang="pt-BR" sz="3450" b="1" spc="-34">
                <a:solidFill>
                  <a:srgbClr val="FFFFFF"/>
                </a:solidFill>
                <a:latin typeface="Montserrat" panose="00000500000000000000" pitchFamily="2" charset="0"/>
              </a:rPr>
              <a:t>Uma decisão melhor começa</a:t>
            </a:r>
          </a:p>
          <a:p>
            <a:pPr algn="ctr">
              <a:lnSpc>
                <a:spcPts val="3900"/>
              </a:lnSpc>
            </a:pPr>
            <a:r>
              <a:rPr lang="pt-BR" sz="3450" b="1" spc="-34">
                <a:solidFill>
                  <a:srgbClr val="FFFFFF"/>
                </a:solidFill>
                <a:latin typeface="Montserrat" panose="00000500000000000000" pitchFamily="2" charset="0"/>
              </a:rPr>
              <a:t>por uma evidência melhor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5781D95-37E5-CA58-8DF8-E2446810BA6C}"/>
              </a:ext>
            </a:extLst>
          </p:cNvPr>
          <p:cNvSpPr txBox="1">
            <a:spLocks/>
          </p:cNvSpPr>
          <p:nvPr/>
        </p:nvSpPr>
        <p:spPr>
          <a:xfrm>
            <a:off x="1877377" y="3273425"/>
            <a:ext cx="8437245" cy="54457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500"/>
              </a:lnSpc>
            </a:pPr>
            <a:r>
              <a:rPr lang="pt-BR" sz="1575" dirty="0">
                <a:solidFill>
                  <a:srgbClr val="FFFFFF"/>
                </a:solidFill>
                <a:latin typeface="Nobile"/>
              </a:rPr>
              <a:t>O Sistema transforma apólices complexas em uma comparação estruturada, explicável e verificável — sem retirar o especialista da decisão.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CF424935-0A89-A8E5-8942-64BE570FCC31}"/>
              </a:ext>
            </a:extLst>
          </p:cNvPr>
          <p:cNvSpPr/>
          <p:nvPr/>
        </p:nvSpPr>
        <p:spPr>
          <a:xfrm>
            <a:off x="2161667" y="4324604"/>
            <a:ext cx="1404493" cy="420878"/>
          </a:xfrm>
          <a:prstGeom prst="roundRect">
            <a:avLst>
              <a:gd name="adj" fmla="val 50000"/>
            </a:avLst>
          </a:prstGeom>
          <a:noFill/>
          <a:ln w="19050" cap="flat" cmpd="sng" algn="ctr">
            <a:solidFill>
              <a:srgbClr val="2EBDEE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D37D436-6545-9797-0C4A-AEA697419441}"/>
              </a:ext>
            </a:extLst>
          </p:cNvPr>
          <p:cNvSpPr txBox="1">
            <a:spLocks/>
          </p:cNvSpPr>
          <p:nvPr/>
        </p:nvSpPr>
        <p:spPr>
          <a:xfrm>
            <a:off x="2395679" y="4457954"/>
            <a:ext cx="936469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400"/>
              </a:lnSpc>
            </a:pPr>
            <a:r>
              <a:rPr lang="pt-BR" sz="975" b="1" spc="156">
                <a:solidFill>
                  <a:srgbClr val="FFFFFF"/>
                </a:solidFill>
                <a:latin typeface="Montserrat" panose="00000500000000000000" pitchFamily="2" charset="0"/>
              </a:rPr>
              <a:t>PROBLEMA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71A6339-A2C6-CD1B-8767-5EA84E4F3D6C}"/>
              </a:ext>
            </a:extLst>
          </p:cNvPr>
          <p:cNvSpPr txBox="1">
            <a:spLocks/>
          </p:cNvSpPr>
          <p:nvPr/>
        </p:nvSpPr>
        <p:spPr>
          <a:xfrm>
            <a:off x="3705987" y="4420616"/>
            <a:ext cx="189865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100"/>
              </a:lnSpc>
            </a:pPr>
            <a:r>
              <a:rPr lang="pt-BR" sz="1500">
                <a:solidFill>
                  <a:srgbClr val="FFFFFF"/>
                </a:solidFill>
                <a:latin typeface="Montserrat" panose="00000500000000000000" pitchFamily="2" charset="0"/>
              </a:rPr>
              <a:t>→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BB96A5F4-C02F-6415-2CA3-A7B8BBE38422}"/>
              </a:ext>
            </a:extLst>
          </p:cNvPr>
          <p:cNvSpPr/>
          <p:nvPr/>
        </p:nvSpPr>
        <p:spPr>
          <a:xfrm>
            <a:off x="4035425" y="4324604"/>
            <a:ext cx="1397254" cy="420878"/>
          </a:xfrm>
          <a:prstGeom prst="roundRect">
            <a:avLst>
              <a:gd name="adj" fmla="val 50000"/>
            </a:avLst>
          </a:prstGeom>
          <a:noFill/>
          <a:ln w="19050" cap="flat" cmpd="sng" algn="ctr">
            <a:solidFill>
              <a:srgbClr val="2EBDEE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8F9DA85-28D9-E0A6-FA28-B47F92BF57B7}"/>
              </a:ext>
            </a:extLst>
          </p:cNvPr>
          <p:cNvSpPr txBox="1">
            <a:spLocks/>
          </p:cNvSpPr>
          <p:nvPr/>
        </p:nvSpPr>
        <p:spPr>
          <a:xfrm>
            <a:off x="4269546" y="4457954"/>
            <a:ext cx="929013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400"/>
              </a:lnSpc>
            </a:pPr>
            <a:r>
              <a:rPr lang="pt-BR" sz="975" b="1" spc="156">
                <a:solidFill>
                  <a:srgbClr val="FFFFFF"/>
                </a:solidFill>
                <a:latin typeface="Montserrat" panose="00000500000000000000" pitchFamily="2" charset="0"/>
              </a:rPr>
              <a:t>EVIDÊNCIA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33F1DA7-86E6-90D2-27E9-01200141E5DB}"/>
              </a:ext>
            </a:extLst>
          </p:cNvPr>
          <p:cNvSpPr txBox="1">
            <a:spLocks/>
          </p:cNvSpPr>
          <p:nvPr/>
        </p:nvSpPr>
        <p:spPr>
          <a:xfrm>
            <a:off x="5572379" y="4420616"/>
            <a:ext cx="189865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100"/>
              </a:lnSpc>
            </a:pPr>
            <a:r>
              <a:rPr lang="pt-BR" sz="1500">
                <a:solidFill>
                  <a:srgbClr val="FFFFFF"/>
                </a:solidFill>
                <a:latin typeface="Montserrat" panose="00000500000000000000" pitchFamily="2" charset="0"/>
              </a:rPr>
              <a:t>→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6930247-6E0C-515C-B432-393DDCB92AB3}"/>
              </a:ext>
            </a:extLst>
          </p:cNvPr>
          <p:cNvSpPr/>
          <p:nvPr/>
        </p:nvSpPr>
        <p:spPr>
          <a:xfrm>
            <a:off x="5901944" y="4324604"/>
            <a:ext cx="1652778" cy="420878"/>
          </a:xfrm>
          <a:prstGeom prst="roundRect">
            <a:avLst>
              <a:gd name="adj" fmla="val 50000"/>
            </a:avLst>
          </a:prstGeom>
          <a:noFill/>
          <a:ln w="19050" cap="flat" cmpd="sng" algn="ctr">
            <a:solidFill>
              <a:srgbClr val="2EBDEE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B97E51D-B976-BFAB-AB9F-A41C455514FB}"/>
              </a:ext>
            </a:extLst>
          </p:cNvPr>
          <p:cNvSpPr txBox="1">
            <a:spLocks/>
          </p:cNvSpPr>
          <p:nvPr/>
        </p:nvSpPr>
        <p:spPr>
          <a:xfrm>
            <a:off x="6132232" y="4457954"/>
            <a:ext cx="1192202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400"/>
              </a:lnSpc>
            </a:pPr>
            <a:r>
              <a:rPr lang="pt-BR" sz="975" b="1" spc="156">
                <a:solidFill>
                  <a:srgbClr val="FFFFFF"/>
                </a:solidFill>
                <a:latin typeface="Montserrat" panose="00000500000000000000" pitchFamily="2" charset="0"/>
              </a:rPr>
              <a:t>COMPARAÇÃO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B078D10-8929-7FF3-35D5-427997A58946}"/>
              </a:ext>
            </a:extLst>
          </p:cNvPr>
          <p:cNvSpPr txBox="1">
            <a:spLocks/>
          </p:cNvSpPr>
          <p:nvPr/>
        </p:nvSpPr>
        <p:spPr>
          <a:xfrm>
            <a:off x="7694422" y="4420616"/>
            <a:ext cx="189865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2100"/>
              </a:lnSpc>
            </a:pPr>
            <a:r>
              <a:rPr lang="pt-BR" sz="1500">
                <a:solidFill>
                  <a:srgbClr val="FFFFFF"/>
                </a:solidFill>
                <a:latin typeface="Montserrat" panose="00000500000000000000" pitchFamily="2" charset="0"/>
              </a:rPr>
              <a:t>→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58580510-0AC4-19BA-D257-AE31726815A3}"/>
              </a:ext>
            </a:extLst>
          </p:cNvPr>
          <p:cNvSpPr/>
          <p:nvPr/>
        </p:nvSpPr>
        <p:spPr>
          <a:xfrm>
            <a:off x="8023987" y="4324604"/>
            <a:ext cx="2006219" cy="420878"/>
          </a:xfrm>
          <a:prstGeom prst="roundRect">
            <a:avLst>
              <a:gd name="adj" fmla="val 50000"/>
            </a:avLst>
          </a:prstGeom>
          <a:noFill/>
          <a:ln w="19050" cap="flat" cmpd="sng" algn="ctr">
            <a:solidFill>
              <a:srgbClr val="2EBDEE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8B96A52C-CDB3-40F1-BDD4-AC17920A8B17}"/>
              </a:ext>
            </a:extLst>
          </p:cNvPr>
          <p:cNvSpPr txBox="1">
            <a:spLocks/>
          </p:cNvSpPr>
          <p:nvPr/>
        </p:nvSpPr>
        <p:spPr>
          <a:xfrm>
            <a:off x="8248973" y="4457954"/>
            <a:ext cx="1556247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ts val="1400"/>
              </a:lnSpc>
            </a:pPr>
            <a:r>
              <a:rPr lang="pt-BR" sz="975" b="1" spc="156">
                <a:solidFill>
                  <a:srgbClr val="FFFFFF"/>
                </a:solidFill>
                <a:latin typeface="Montserrat" panose="00000500000000000000" pitchFamily="2" charset="0"/>
              </a:rPr>
              <a:t>DECISÃO HUMANA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3AF3CA63-9217-3271-6711-B72EB83A050A}"/>
              </a:ext>
            </a:extLst>
          </p:cNvPr>
          <p:cNvSpPr/>
          <p:nvPr/>
        </p:nvSpPr>
        <p:spPr>
          <a:xfrm>
            <a:off x="838200" y="5353050"/>
            <a:ext cx="10515600" cy="9525"/>
          </a:xfrm>
          <a:prstGeom prst="rect">
            <a:avLst/>
          </a:prstGeom>
          <a:solidFill>
            <a:srgbClr val="FFFFFF">
              <a:alpha val="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EE82BC67-3272-B0E3-562A-9F52D304C605}"/>
              </a:ext>
            </a:extLst>
          </p:cNvPr>
          <p:cNvSpPr txBox="1">
            <a:spLocks/>
          </p:cNvSpPr>
          <p:nvPr/>
        </p:nvSpPr>
        <p:spPr>
          <a:xfrm>
            <a:off x="4724216" y="6002655"/>
            <a:ext cx="6629584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>
              <a:lnSpc>
                <a:spcPts val="1600"/>
              </a:lnSpc>
            </a:pPr>
            <a:r>
              <a:rPr lang="pt-BR" sz="1050">
                <a:solidFill>
                  <a:srgbClr val="FFFFFF"/>
                </a:solidFill>
                <a:latin typeface="Nobile"/>
              </a:rPr>
              <a:t>GRUPO LATINTECH · Fábio Castro · Lucas Godois · Pedro Campos · Rogério Sousa · Fernando Gonçalves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303A6C92-3D4F-0B11-6A02-B54627FCAB43}"/>
              </a:ext>
            </a:extLst>
          </p:cNvPr>
          <p:cNvSpPr txBox="1">
            <a:spLocks/>
          </p:cNvSpPr>
          <p:nvPr/>
        </p:nvSpPr>
        <p:spPr>
          <a:xfrm>
            <a:off x="4724216" y="6202680"/>
            <a:ext cx="6629584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>
              <a:lnSpc>
                <a:spcPts val="1600"/>
              </a:lnSpc>
            </a:pPr>
            <a:r>
              <a:rPr lang="pt-BR" sz="975" spc="59">
                <a:solidFill>
                  <a:srgbClr val="BDBEC5"/>
                </a:solidFill>
                <a:latin typeface="Montserrat" panose="00000500000000000000" pitchFamily="2" charset="0"/>
              </a:rPr>
              <a:t>github.com/RogerioSousa123/insurminds-projeto-final-latintech</a:t>
            </a:r>
          </a:p>
        </p:txBody>
      </p:sp>
      <p:pic>
        <p:nvPicPr>
          <p:cNvPr id="24" name="Imagem 23">
            <a:extLst>
              <a:ext uri="{FF2B5EF4-FFF2-40B4-BE49-F238E27FC236}">
                <a16:creationId xmlns:a16="http://schemas.microsoft.com/office/drawing/2014/main" id="{7A0245F7-C7F6-9496-8B48-B31739A0D3A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50306"/>
            <a:ext cx="1047750" cy="65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8704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311</Words>
  <Application>Microsoft Office PowerPoint</Application>
  <PresentationFormat>Widescreen</PresentationFormat>
  <Paragraphs>79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11" baseType="lpstr">
      <vt:lpstr>Aptos Display</vt:lpstr>
      <vt:lpstr>Nobile</vt:lpstr>
      <vt:lpstr>Arial</vt:lpstr>
      <vt:lpstr>Aptos</vt:lpstr>
      <vt:lpstr>Montserrat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Rogerio Sousa</dc:creator>
  <cp:lastModifiedBy>Rogerio Sousa</cp:lastModifiedBy>
  <cp:revision>3</cp:revision>
  <dcterms:created xsi:type="dcterms:W3CDTF">2026-10-06T13:48:38Z</dcterms:created>
  <dcterms:modified xsi:type="dcterms:W3CDTF">2026-10-06T16:41:35Z</dcterms:modified>
</cp:coreProperties>
</file>